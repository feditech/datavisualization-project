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Garamond" panose="02020404030301010803" pitchFamily="18" charset="0"/>
      <p:regular r:id="rId11"/>
      <p:bold r:id="rId12"/>
      <p:italic r:id="rId13"/>
    </p:embeddedFont>
    <p:embeddedFont>
      <p:font typeface="Lekton" panose="020B0604020202020204" charset="0"/>
      <p:regular r:id="rId14"/>
      <p:bold r:id="rId15"/>
      <p:italic r:id="rId16"/>
    </p:embeddedFont>
    <p:embeddedFont>
      <p:font typeface="Titillium Web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86">
          <p15:clr>
            <a:srgbClr val="A4A3A4"/>
          </p15:clr>
        </p15:guide>
        <p15:guide id="2" pos="2098">
          <p15:clr>
            <a:srgbClr val="A4A3A4"/>
          </p15:clr>
        </p15:guide>
        <p15:guide id="3" pos="2324">
          <p15:clr>
            <a:srgbClr val="A4A3A4"/>
          </p15:clr>
        </p15:guide>
        <p15:guide id="4" pos="340">
          <p15:clr>
            <a:srgbClr val="A4A3A4"/>
          </p15:clr>
        </p15:guide>
        <p15:guide id="5" pos="2977">
          <p15:clr>
            <a:srgbClr val="A4A3A4"/>
          </p15:clr>
        </p15:guide>
        <p15:guide id="6" orient="horz" pos="737">
          <p15:clr>
            <a:srgbClr val="A4A3A4"/>
          </p15:clr>
        </p15:guide>
        <p15:guide id="7" orient="horz" pos="3005">
          <p15:clr>
            <a:srgbClr val="A4A3A4"/>
          </p15:clr>
        </p15:guide>
        <p15:guide id="8" orient="horz" pos="1757">
          <p15:clr>
            <a:srgbClr val="A4A3A4"/>
          </p15:clr>
        </p15:guide>
        <p15:guide id="9" orient="horz" pos="542">
          <p15:clr>
            <a:srgbClr val="A4A3A4"/>
          </p15:clr>
        </p15:guide>
        <p15:guide id="10" orient="horz" pos="10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44"/>
      </p:cViewPr>
      <p:guideLst>
        <p:guide pos="5386"/>
        <p:guide pos="2098"/>
        <p:guide pos="2324"/>
        <p:guide pos="340"/>
        <p:guide pos="2977"/>
        <p:guide orient="horz" pos="737"/>
        <p:guide orient="horz" pos="3005"/>
        <p:guide orient="horz" pos="1757"/>
        <p:guide orient="horz" pos="542"/>
        <p:guide orient="horz" pos="10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Garamond" panose="02020404030301010803" pitchFamily="18" charset="0"/>
        <a:ea typeface="Garamond" panose="02020404030301010803" pitchFamily="18" charset="0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5dbef20b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b5dbef20b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5dbef20b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3b5dbef20b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l titolo 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ekton"/>
              <a:buNone/>
              <a:defRPr sz="4200" b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67500" y="3427050"/>
            <a:ext cx="7557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rgbClr val="D66B55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Titillium Web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/>
          <p:nvPr/>
        </p:nvSpPr>
        <p:spPr>
          <a:xfrm>
            <a:off x="726825" y="257900"/>
            <a:ext cx="6957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4439150" y="100"/>
            <a:ext cx="47049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837675" y="1656850"/>
            <a:ext cx="3288900" cy="29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1578700"/>
            <a:ext cx="8520300" cy="14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kton"/>
              <a:buNone/>
              <a:defRPr sz="3000" b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2250825" y="3032375"/>
            <a:ext cx="42984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rgbClr val="333333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Titillium Web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della sezione 1">
  <p:cSld name="SECTION_HEADER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461300" y="1594350"/>
            <a:ext cx="8221500" cy="13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2"/>
          </p:nvPr>
        </p:nvSpPr>
        <p:spPr>
          <a:xfrm>
            <a:off x="461250" y="3253963"/>
            <a:ext cx="8221500" cy="13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4572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2"/>
          </p:nvPr>
        </p:nvSpPr>
        <p:spPr>
          <a:xfrm>
            <a:off x="4832400" y="14572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">
  <p:cSld name="SECTION_TITLE_AND_DESCRIPTION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D66B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">
  <p:cSld name="SECTION_TITLE_AND_DESCRIPTION_1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9" name="Google Shape;3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1175" y="-96750"/>
            <a:ext cx="9386000" cy="5293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Titillium Web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cxnSp>
        <p:nvCxnSpPr>
          <p:cNvPr id="41" name="Google Shape;41;p9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">
  <p:cSld name="SECTION_TITLE_AND_DESCRIPTION_1_1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0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10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2">
  <p:cSld name="SECTION_TITLE_AND_DESCRIPTION_1_1_1_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275" y="-52250"/>
            <a:ext cx="9338651" cy="5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Titillium Web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cxnSp>
        <p:nvCxnSpPr>
          <p:cNvPr id="52" name="Google Shape;52;p11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11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1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2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12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C67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">
  <p:cSld name="SECTION_TITLE_AND_DESCRIPTION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275" y="-70075"/>
            <a:ext cx="9354474" cy="52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Titillium Web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cxnSp>
        <p:nvCxnSpPr>
          <p:cNvPr id="63" name="Google Shape;63;p13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13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2">
  <p:cSld name="CUSTOM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4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7" name="Google Shape;67;p14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8F44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">
  <p:cSld name="SECTION_TITLE_AND_DESCRIPTION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70075" y="-87875"/>
            <a:ext cx="9370249" cy="52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Titillium Web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cxnSp>
        <p:nvCxnSpPr>
          <p:cNvPr id="74" name="Google Shape;74;p15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3">
  <p:cSld name="CUSTOM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16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22E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 1">
  <p:cSld name="SECTION_TITLE_AND_DESCRIPTION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275" y="-78950"/>
            <a:ext cx="9417551" cy="53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Titillium Web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cxnSp>
        <p:nvCxnSpPr>
          <p:cNvPr id="85" name="Google Shape;85;p17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65814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None/>
              <a:defRPr b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</a:lstStyle>
          <a:p>
            <a:endParaRPr dirty="0"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6B55"/>
              </a:buClr>
              <a:buSzPts val="20000"/>
              <a:buFont typeface="Lekton"/>
              <a:buNone/>
              <a:defRPr sz="20000" b="1">
                <a:solidFill>
                  <a:srgbClr val="D66B55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2430575" y="2993300"/>
            <a:ext cx="4204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Titillium Web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2"/>
          </p:nvPr>
        </p:nvSpPr>
        <p:spPr>
          <a:xfrm>
            <a:off x="2430575" y="3477850"/>
            <a:ext cx="42048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 b="1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Lekton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ptos" panose="020B0004020202020204" pitchFamily="34" charset="0"/>
                <a:ea typeface="Aptos" panose="020B0004020202020204" pitchFamily="34" charset="0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Garamond" panose="02020404030301010803" pitchFamily="18" charset="0"/>
          <a:ea typeface="Garamond" panose="02020404030301010803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Garamond" panose="02020404030301010803" pitchFamily="18" charset="0"/>
          <a:ea typeface="Garamond" panose="02020404030301010803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editech/datavisualization-projec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1277000" y="700450"/>
            <a:ext cx="2128500" cy="1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4559225" y="4275600"/>
            <a:ext cx="45849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Titillium Web"/>
                <a:cs typeface="Titillium Web"/>
                <a:sym typeface="Titillium Web"/>
              </a:rPr>
              <a:t>Student name: </a:t>
            </a:r>
            <a:r>
              <a:rPr lang="en-US" sz="1400" b="1" i="0" u="none" strike="noStrike" cap="none" dirty="0">
                <a:solidFill>
                  <a:srgbClr val="D66B55"/>
                </a:solidFill>
                <a:latin typeface="Aptos" panose="020B0004020202020204" pitchFamily="34" charset="0"/>
                <a:ea typeface="Titillium Web"/>
                <a:cs typeface="Titillium Web"/>
                <a:sym typeface="Titillium Web"/>
              </a:rPr>
              <a:t>Muhammad Fahad</a:t>
            </a:r>
            <a:endParaRPr sz="1400" b="1" i="0" u="none" strike="noStrike" cap="none" dirty="0">
              <a:solidFill>
                <a:srgbClr val="D66B55"/>
              </a:solidFill>
              <a:latin typeface="Aptos" panose="020B0004020202020204" pitchFamily="34" charset="0"/>
              <a:ea typeface="Titillium Web"/>
              <a:cs typeface="Titillium Web"/>
              <a:sym typeface="Titillium Web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Titillium Web"/>
                <a:cs typeface="Titillium Web"/>
                <a:sym typeface="Titillium Web"/>
              </a:rPr>
              <a:t>Student ID: </a:t>
            </a:r>
            <a:r>
              <a:rPr lang="en-US" sz="1400" b="1" i="0" u="none" strike="noStrike" cap="none" dirty="0">
                <a:solidFill>
                  <a:srgbClr val="D66B55"/>
                </a:solidFill>
                <a:latin typeface="Aptos" panose="020B0004020202020204" pitchFamily="34" charset="0"/>
                <a:ea typeface="Titillium Web"/>
                <a:cs typeface="Titillium Web"/>
                <a:sym typeface="Titillium Web"/>
              </a:rPr>
              <a:t>948477</a:t>
            </a:r>
            <a:endParaRPr sz="1400" b="1" i="0" u="none" strike="noStrike" cap="none" dirty="0">
              <a:solidFill>
                <a:srgbClr val="D66B55"/>
              </a:solidFill>
              <a:latin typeface="Aptos" panose="020B0004020202020204" pitchFamily="34" charset="0"/>
              <a:ea typeface="Titillium Web"/>
              <a:cs typeface="Titillium Web"/>
              <a:sym typeface="Titillium Web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Titillium Web"/>
                <a:cs typeface="Titillium Web"/>
                <a:sym typeface="Titillium Web"/>
              </a:rPr>
              <a:t>Email : </a:t>
            </a:r>
            <a:r>
              <a:rPr lang="en-US" sz="1400" b="1" i="0" u="none" strike="noStrike" cap="none" dirty="0">
                <a:solidFill>
                  <a:srgbClr val="D66B55"/>
                </a:solidFill>
                <a:latin typeface="Aptos" panose="020B0004020202020204" pitchFamily="34" charset="0"/>
                <a:ea typeface="Titillium Web"/>
                <a:cs typeface="Titillium Web"/>
                <a:sym typeface="Titillium Web"/>
              </a:rPr>
              <a:t>m.fahad5@campus.unimib.it</a:t>
            </a:r>
            <a:endParaRPr sz="1400" b="1" i="0" u="none" strike="noStrike" cap="none" dirty="0">
              <a:solidFill>
                <a:srgbClr val="D66B55"/>
              </a:solidFill>
              <a:latin typeface="Aptos" panose="020B0004020202020204" pitchFamily="34" charset="0"/>
              <a:ea typeface="Titillium Web"/>
              <a:cs typeface="Titillium Web"/>
              <a:sym typeface="Titillium Web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03" name="Google Shape;103;p21"/>
          <p:cNvCxnSpPr/>
          <p:nvPr/>
        </p:nvCxnSpPr>
        <p:spPr>
          <a:xfrm>
            <a:off x="4572000" y="0"/>
            <a:ext cx="0" cy="51345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21"/>
          <p:cNvSpPr txBox="1"/>
          <p:nvPr/>
        </p:nvSpPr>
        <p:spPr>
          <a:xfrm>
            <a:off x="4473464" y="718400"/>
            <a:ext cx="4670533" cy="30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The Topography of Travel: An Economic Analysis of Italian </a:t>
            </a:r>
            <a:r>
              <a:rPr lang="en-US" sz="3200" b="0" i="0" u="none" strike="noStrike" cap="none" dirty="0" err="1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Airbnbs</a:t>
            </a:r>
            <a:endParaRPr sz="3200" b="1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Lekton"/>
              <a:cs typeface="Lekton"/>
              <a:sym typeface="Lekton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-12900" y="1551150"/>
            <a:ext cx="4584900" cy="24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1" u="none" strike="noStrike" cap="none" dirty="0">
              <a:solidFill>
                <a:schemeClr val="dk2"/>
              </a:solidFill>
              <a:latin typeface="Aptos" panose="020B0004020202020204" pitchFamily="34" charset="0"/>
              <a:ea typeface="Lekton"/>
              <a:cs typeface="Lekton"/>
              <a:sym typeface="Lekton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035" y="487680"/>
            <a:ext cx="4264430" cy="4436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/>
        </p:nvSpPr>
        <p:spPr>
          <a:xfrm>
            <a:off x="540000" y="384725"/>
            <a:ext cx="80100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D66B55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Research questions</a:t>
            </a:r>
            <a:endParaRPr sz="1800" b="1" i="0" u="none" strike="noStrike" cap="none" dirty="0">
              <a:solidFill>
                <a:srgbClr val="D66B55"/>
              </a:solidFill>
              <a:latin typeface="Aptos" panose="020B0004020202020204" pitchFamily="34" charset="0"/>
              <a:ea typeface="Lekton"/>
              <a:cs typeface="Lekton"/>
              <a:sym typeface="Lekto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Beyond physical property characteristics (size, room type), what are the hidden structural drivers that determine listing prices in the Italian short-term rental market?</a:t>
            </a:r>
            <a:endParaRPr sz="1800" b="1" i="0" u="none" strike="noStrike" cap="none" dirty="0">
              <a:solidFill>
                <a:srgbClr val="333333"/>
              </a:solidFill>
              <a:latin typeface="Aptos" panose="020B0004020202020204" pitchFamily="34" charset="0"/>
              <a:ea typeface="Lekton"/>
              <a:cs typeface="Lekton"/>
              <a:sym typeface="Lekton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The "Brand" Effect: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 “How strictly is wealth concentrated within specific 'Luxury Enclaves' (Neighborhoods), and does this create a 'Location Premium' that defies city-wide averages?</a:t>
            </a:r>
            <a:r>
              <a:rPr lang="en-US" dirty="0">
                <a:latin typeface="Aptos" panose="020B0004020202020204" pitchFamily="34" charset="0"/>
              </a:rPr>
              <a:t>”</a:t>
            </a:r>
            <a:endParaRPr dirty="0">
              <a:latin typeface="Aptos" panose="020B0004020202020204" pitchFamily="34" charset="0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The "Time" Arbitrage: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 “How does seasonality impact pricing volatility across different cities (e.g., Leisure vs. Business hubs), and where can travelers find the best value-for-money?”</a:t>
            </a:r>
            <a:endParaRPr sz="1400" b="0" i="0" u="none" strike="noStrike" cap="none" dirty="0">
              <a:solidFill>
                <a:srgbClr val="333333"/>
              </a:solidFill>
              <a:latin typeface="Aptos" panose="020B0004020202020204" pitchFamily="34" charset="0"/>
              <a:ea typeface="Lekton"/>
              <a:cs typeface="Lekton"/>
              <a:sym typeface="Lekton"/>
            </a:endParaRPr>
          </a:p>
          <a:p>
            <a:pPr marL="1397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333333"/>
              </a:solidFill>
              <a:latin typeface="Aptos" panose="020B0004020202020204" pitchFamily="34" charset="0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/>
        </p:nvSpPr>
        <p:spPr>
          <a:xfrm>
            <a:off x="540000" y="384724"/>
            <a:ext cx="8010000" cy="418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D66B55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About Data</a:t>
            </a:r>
            <a:endParaRPr dirty="0">
              <a:latin typeface="Aptos" panose="020B0004020202020204" pitchFamily="34" charset="0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oto Sans Symbols"/>
              <a:buChar char="❑"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Dataset Chosen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: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 Italian Airbnb Listings Dataset (airbnbitaly_dm.csv).</a:t>
            </a:r>
            <a:endParaRPr dirty="0">
              <a:latin typeface="Aptos" panose="020B0004020202020204" pitchFamily="34" charset="0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oto Sans Symbols"/>
              <a:buChar char="❑"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Source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: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Aggregated rental data (Simulated/Public Domain for academic use).</a:t>
            </a:r>
            <a:endParaRPr dirty="0">
              <a:latin typeface="Aptos" panose="020B0004020202020204" pitchFamily="34" charset="0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oto Sans Symbols"/>
              <a:buChar char="❑"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Initial Considerations: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"The raw data contained over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280,000 rows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. My primary concern was the presence of extreme outliers (luxury villas priced at €5,000+) which skewed the averages and made standard visualizations unreadable.“</a:t>
            </a:r>
            <a:endParaRPr dirty="0">
              <a:latin typeface="Aptos" panose="020B0004020202020204" pitchFamily="34" charset="0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oto Sans Symbols"/>
              <a:buChar char="❑"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Data Quality &amp; Cleaning:</a:t>
            </a:r>
            <a:endParaRPr dirty="0">
              <a:latin typeface="Aptos" panose="020B0004020202020204" pitchFamily="34" charset="0"/>
            </a:endParaRPr>
          </a:p>
          <a:p>
            <a:pPr marL="139700" lvl="5">
              <a:buClr>
                <a:srgbClr val="333333"/>
              </a:buClr>
              <a:buSzPts val="1400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	</a:t>
            </a:r>
            <a:r>
              <a:rPr lang="en-US" b="1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Encoding Issues: </a:t>
            </a: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Handled Latin-1 character encoding to correctly preserve Italian city 	names (e.g., Venezia vs Venice).</a:t>
            </a:r>
            <a:endParaRPr lang="en-US" dirty="0">
              <a:latin typeface="Aptos" panose="020B0004020202020204" pitchFamily="34" charset="0"/>
            </a:endParaRPr>
          </a:p>
          <a:p>
            <a:pPr marL="139700">
              <a:spcBef>
                <a:spcPts val="1000"/>
              </a:spcBef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	</a:t>
            </a:r>
            <a:r>
              <a:rPr lang="en-US" b="1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Filtering: </a:t>
            </a: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Removed inactive listings (0 reviews) and extreme outliers (Price &gt; €600) to focus 	analysis on the "accessible" travel market (approx. 95% of data).</a:t>
            </a:r>
          </a:p>
          <a:p>
            <a:pPr marL="139700">
              <a:spcBef>
                <a:spcPts val="1000"/>
              </a:spcBef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  <a:sym typeface="Lekton"/>
              </a:rPr>
              <a:t>	</a:t>
            </a:r>
            <a:r>
              <a:rPr lang="en-US" b="1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Normalization: </a:t>
            </a: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Grouped data by Neighborhood and Season to allow for macro-level 	comparisons rather than individual listing analysis.</a:t>
            </a:r>
          </a:p>
          <a:p>
            <a:pPr marL="139700">
              <a:spcBef>
                <a:spcPts val="1000"/>
              </a:spcBef>
            </a:pPr>
            <a:endParaRPr lang="en-US" dirty="0">
              <a:latin typeface="Aptos" panose="020B0004020202020204" pitchFamily="34" charset="0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dk1"/>
              </a:solidFill>
              <a:latin typeface="Aptos" panose="020B0004020202020204" pitchFamily="34" charset="0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/>
        </p:nvSpPr>
        <p:spPr>
          <a:xfrm>
            <a:off x="540000" y="384725"/>
            <a:ext cx="80100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D66B55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Methodology</a:t>
            </a:r>
            <a:endParaRPr sz="1600" b="0" i="0" u="none" strike="noStrike" cap="none" dirty="0">
              <a:solidFill>
                <a:schemeClr val="dk1"/>
              </a:solidFill>
              <a:latin typeface="Aptos" panose="020B0004020202020204" pitchFamily="34" charset="0"/>
              <a:ea typeface="Lekton"/>
              <a:cs typeface="Lekton"/>
              <a:sym typeface="Lekton"/>
            </a:endParaRPr>
          </a:p>
          <a:p>
            <a:pPr marL="4254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oto Sans Symbols"/>
              <a:buChar char="❑"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Data Cleaning:</a:t>
            </a:r>
            <a:endParaRPr dirty="0">
              <a:latin typeface="Aptos" panose="020B0004020202020204" pitchFamily="34" charset="0"/>
            </a:endParaRPr>
          </a:p>
          <a:p>
            <a:pPr marL="139700" marR="0" lvl="8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	Removed rows with missing coordinates or 0 reviews (inactive).</a:t>
            </a:r>
            <a:endParaRPr dirty="0">
              <a:latin typeface="Aptos" panose="020B0004020202020204" pitchFamily="34" charset="0"/>
            </a:endParaRPr>
          </a:p>
          <a:p>
            <a:pPr marL="139700" marR="0" lvl="8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	Aggregated data by Neighborhood and City to analyze macro trends.</a:t>
            </a:r>
            <a:endParaRPr dirty="0">
              <a:latin typeface="Aptos" panose="020B0004020202020204" pitchFamily="34" charset="0"/>
            </a:endParaRPr>
          </a:p>
          <a:p>
            <a:pPr marL="139700" marR="0" lvl="8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	Filtered outliers (&gt;€600) to normalize for the standard market.</a:t>
            </a:r>
            <a:endParaRPr dirty="0">
              <a:latin typeface="Aptos" panose="020B0004020202020204" pitchFamily="34" charset="0"/>
            </a:endParaRPr>
          </a:p>
          <a:p>
            <a:pPr marL="4254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oto Sans Symbols"/>
              <a:buChar char="❑"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Merging:</a:t>
            </a:r>
            <a:endParaRPr dirty="0">
              <a:latin typeface="Aptos" panose="020B0004020202020204" pitchFamily="34" charset="0"/>
            </a:endParaRPr>
          </a:p>
          <a:p>
            <a:pPr marL="139700">
              <a:spcBef>
                <a:spcPts val="1000"/>
              </a:spcBef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	</a:t>
            </a: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Simulated a multi-source process by enriching the raw data with OpenStreetMap API data 	(Museums/Restaurants).</a:t>
            </a:r>
            <a:endParaRPr lang="en-US" dirty="0">
              <a:latin typeface="Aptos" panose="020B0004020202020204" pitchFamily="34" charset="0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	Merged these spatial counts onto the master dataset using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KDTree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 algorithm</a:t>
            </a:r>
            <a:endParaRPr dirty="0">
              <a:latin typeface="Aptos" panose="020B0004020202020204" pitchFamily="34" charset="0"/>
            </a:endParaRPr>
          </a:p>
          <a:p>
            <a:pPr marL="4254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oto Sans Symbols"/>
              <a:buChar char="❑"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Lekton"/>
                <a:cs typeface="Lekton"/>
                <a:sym typeface="Lekton"/>
              </a:rPr>
              <a:t>Software Used: </a:t>
            </a:r>
            <a:endParaRPr lang="en-US" b="1" i="0" u="none" strike="noStrike" cap="none" dirty="0">
              <a:latin typeface="Aptos" panose="020B0004020202020204" pitchFamily="34" charset="0"/>
              <a:ea typeface="Lekton"/>
              <a:cs typeface="Lekton"/>
              <a:sym typeface="Lekton"/>
            </a:endParaRPr>
          </a:p>
          <a:p>
            <a:pPr marL="139700" lvl="1">
              <a:spcBef>
                <a:spcPts val="1000"/>
              </a:spcBef>
              <a:buClr>
                <a:srgbClr val="333333"/>
              </a:buClr>
              <a:buSzPts val="1400"/>
            </a:pPr>
            <a:r>
              <a:rPr lang="en-US" sz="1200" b="1" dirty="0">
                <a:solidFill>
                  <a:schemeClr val="dk1"/>
                </a:solidFill>
                <a:latin typeface="Aptos" panose="020B0004020202020204" pitchFamily="34" charset="0"/>
                <a:sym typeface="Lekton"/>
              </a:rPr>
              <a:t>	</a:t>
            </a: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Python (Pandas for manipulation, Matplotlib/Seaborn for static charts) and OpenStreetMap 	API (for geospatial enrichment). Code available at </a:t>
            </a: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  <a:hlinkClick r:id="rId3"/>
              </a:rPr>
              <a:t>GitHub</a:t>
            </a:r>
            <a:endParaRPr lang="en-US" dirty="0">
              <a:solidFill>
                <a:schemeClr val="dk1"/>
              </a:solidFill>
              <a:latin typeface="Aptos" panose="020B0004020202020204" pitchFamily="34" charset="0"/>
            </a:endParaRPr>
          </a:p>
          <a:p>
            <a:pPr marL="91440" lvl="1">
              <a:spcBef>
                <a:spcPts val="600"/>
              </a:spcBef>
              <a:buClr>
                <a:srgbClr val="333333"/>
              </a:buClr>
              <a:buSzPts val="1400"/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	PowerPoint/Canva for final narrative layout and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/>
        </p:nvSpPr>
        <p:spPr>
          <a:xfrm>
            <a:off x="540000" y="384725"/>
            <a:ext cx="8010000" cy="4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D66B55"/>
                </a:solidFill>
                <a:latin typeface="Aptos" panose="020B0004020202020204" pitchFamily="34" charset="0"/>
                <a:sym typeface="Arial"/>
              </a:rPr>
              <a:t>Insights from the Data</a:t>
            </a:r>
            <a:endParaRPr dirty="0">
              <a:latin typeface="Aptos" panose="020B0004020202020204" pitchFamily="34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D66B55"/>
              </a:solidFill>
              <a:latin typeface="Aptos" panose="020B0004020202020204" pitchFamily="34" charset="0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The "Luxury Enclave" Phenomenon: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 Wealth is not evenly distributed. It is highly concentrated in specific historic districts (e.g., </a:t>
            </a:r>
            <a:r>
              <a:rPr lang="en-US" sz="1400" b="0" i="1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San Marco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 in Venice, </a:t>
            </a:r>
            <a:r>
              <a:rPr lang="en-US" sz="1400" b="0" i="1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Brera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 in Milan). These "Micro-Climates" command prices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2x higher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 than the national average.</a:t>
            </a:r>
            <a:endParaRPr dirty="0">
              <a:latin typeface="Aptos" panose="020B0004020202020204" pitchFamily="34" charset="0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The Volatility of Venice: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 Venice exhibits extreme price elasticity. It is the most expensive city in "Early Summer" but crashes to become affordable in "Early Winter.“</a:t>
            </a:r>
            <a:endParaRPr dirty="0">
              <a:latin typeface="Aptos" panose="020B0004020202020204" pitchFamily="34" charset="0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The Stability of Milan: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 Unlike leisure destinations, Milan shows remarkably stable pricing year-round, reflecting its nature as a business/industrial hub less reliant on seasonal tourism.</a:t>
            </a:r>
            <a:endParaRPr dirty="0">
              <a:latin typeface="Aptos" panose="020B0004020202020204" pitchFamily="34" charset="0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Strategic Implication: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sym typeface="Arial"/>
              </a:rPr>
              <a:t> Smart travelers can "beat the market" by shifting travel dates (Time Arbitrage) or moving just outside top-tier neighborhoods (Location Arbitrage).</a:t>
            </a: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242950" y="381925"/>
            <a:ext cx="32889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Timing the Market:</a:t>
            </a:r>
            <a:b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</a:br>
            <a: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The Seasonal Price Matrix</a:t>
            </a:r>
            <a:b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</a:br>
            <a:b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.</a:t>
            </a:r>
            <a:endParaRPr sz="1600" b="1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4769999" y="860725"/>
            <a:ext cx="3998615" cy="20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33333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Slides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are shared with the following license:</a:t>
            </a:r>
            <a:endParaRPr sz="1600" b="0" i="0" u="none" strike="noStrike" cap="none" dirty="0">
              <a:solidFill>
                <a:srgbClr val="333333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333333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The Topography of Travel: An Economic Analysis of Italian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Airbnbs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© 2025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'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by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Muhammad Fahad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, is licensed under a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Creative Commons Attribution 4.0 International</a:t>
            </a:r>
            <a:endParaRPr dirty="0">
              <a:latin typeface="Aptos" panose="020B000402020202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To view a copy of this license, visit https://creativecommons.org/licenses/by/4.0/</a:t>
            </a:r>
            <a:endParaRPr sz="1600" b="1" i="0" u="none" strike="noStrike" cap="none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3">
            <a:alphaModFix/>
          </a:blip>
          <a:srcRect l="41745"/>
          <a:stretch/>
        </p:blipFill>
        <p:spPr>
          <a:xfrm>
            <a:off x="3900354" y="0"/>
            <a:ext cx="524364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/>
        </p:nvSpPr>
        <p:spPr>
          <a:xfrm>
            <a:off x="151265" y="2046275"/>
            <a:ext cx="35016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Venice vs. Milan:</a:t>
            </a:r>
            <a:b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Venice (Venezia) is highly volatile. It is extremely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pricey in Summer but crashes in Winter. In contrast, Milan (Milano) remains relatively stable (Yellow/Light Green) year-round, reflecting its status as a consistent business hub.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171977" y="968975"/>
            <a:ext cx="37284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69138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The 'Green Pocket' Strategy:</a:t>
            </a:r>
            <a:b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This heatmap acts as a calendar for value. Red cells indicate expensive 'High Seasons’, while Green cells reveal bargain opportunities. Strategic travelers can save up to 40% by shifting their trip dates by just one season.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149758" y="3293075"/>
            <a:ext cx="36165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Key Takeaway:</a:t>
            </a:r>
            <a:b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</a:br>
            <a: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For maximum </a:t>
            </a:r>
            <a:r>
              <a:rPr lang="en-US" sz="1100" dirty="0" err="1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ROl</a:t>
            </a:r>
            <a: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, avoid the 'Red Zones'. The best value-for-money ratio is found in Early Winter for Venice and Early Autumn for Rome.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pic>
        <p:nvPicPr>
          <p:cNvPr id="141" name="Google Shape;141;p26"/>
          <p:cNvPicPr preferRelativeResize="0"/>
          <p:nvPr/>
        </p:nvPicPr>
        <p:blipFill rotWithShape="1">
          <a:blip r:embed="rId4">
            <a:alphaModFix/>
          </a:blip>
          <a:srcRect l="41745"/>
          <a:stretch/>
        </p:blipFill>
        <p:spPr>
          <a:xfrm>
            <a:off x="3828904" y="0"/>
            <a:ext cx="524364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body" idx="1"/>
          </p:nvPr>
        </p:nvSpPr>
        <p:spPr>
          <a:xfrm>
            <a:off x="242950" y="381925"/>
            <a:ext cx="32889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The Luxury Enclaves:</a:t>
            </a:r>
            <a:b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</a:br>
            <a: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Wealth Is Concentrated</a:t>
            </a:r>
            <a:b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</a:br>
            <a:br>
              <a:rPr lang="en-US" sz="16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.</a:t>
            </a:r>
            <a:endParaRPr sz="1600" b="1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4769999" y="860725"/>
            <a:ext cx="3998700" cy="20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33333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Slides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are shared with the following license:</a:t>
            </a:r>
            <a:endParaRPr sz="1600" b="0" i="0" u="none" strike="noStrike" cap="none" dirty="0">
              <a:solidFill>
                <a:srgbClr val="333333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333333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The Topography of Travel: An Economic Analysis of Italian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Airbnbs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© 2025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'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by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Muhammad Fahad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, is licensed under a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Creative Commons Attribution 4.0 International</a:t>
            </a:r>
            <a:endParaRPr dirty="0">
              <a:latin typeface="Aptos" panose="020B000402020202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To view a copy of this license, visit https://creativecommons.org/licenses/by/4.0/</a:t>
            </a:r>
            <a:endParaRPr sz="1600" b="1" i="0" u="none" strike="noStrike" cap="none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 rotWithShape="1">
          <a:blip r:embed="rId3">
            <a:alphaModFix/>
          </a:blip>
          <a:srcRect l="43818"/>
          <a:stretch>
            <a:fillRect/>
          </a:stretch>
        </p:blipFill>
        <p:spPr>
          <a:xfrm>
            <a:off x="4086970" y="0"/>
            <a:ext cx="505703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7"/>
          <p:cNvSpPr txBox="1"/>
          <p:nvPr/>
        </p:nvSpPr>
        <p:spPr>
          <a:xfrm>
            <a:off x="156335" y="1873012"/>
            <a:ext cx="3000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The Brand' Premium:</a:t>
            </a:r>
            <a:endParaRPr b="1" dirty="0">
              <a:latin typeface="Aptos" panose="020B0004020202020204" pitchFamily="34" charset="0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213802" y="2315384"/>
            <a:ext cx="3501600" cy="103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While these areas are populous, their price premium outpaces their size This suggests that ‘Neighborhood Brand’ (e.g., being near the Duomo or St Mark's Square) is a stronger driver of revenue than the property quality itself.</a:t>
            </a:r>
            <a:endParaRPr sz="1100" dirty="0">
              <a:latin typeface="Aptos" panose="020B0004020202020204" pitchFamily="34" charset="0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171977" y="968975"/>
            <a:ext cx="3728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Uneven Distribution: </a:t>
            </a:r>
            <a:r>
              <a:rPr lang="en-US" sz="1100" dirty="0">
                <a:highlight>
                  <a:srgbClr val="FFFFFF"/>
                </a:highlight>
              </a:rPr>
              <a:t>Airbnb wealth in Italy is highly concentrated</a:t>
            </a:r>
            <a: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. A handful of elite neighborhoods in Venice (San Marco) and Milan Centro, command prices double the national average</a:t>
            </a:r>
            <a:endParaRPr sz="1100" dirty="0">
              <a:latin typeface="Aptos" panose="020B0004020202020204" pitchFamily="34" charset="0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156335" y="3388698"/>
            <a:ext cx="3000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Strategic Implication:</a:t>
            </a:r>
            <a:endParaRPr b="1" dirty="0">
              <a:solidFill>
                <a:srgbClr val="222222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156352" y="3831070"/>
            <a:ext cx="3616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100" dirty="0">
                <a:highlight>
                  <a:srgbClr val="FFFFFF"/>
                </a:highlight>
              </a:rPr>
              <a:t>A one-size-fits-all</a:t>
            </a:r>
            <a: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pricing strategy is inefficient.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22222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Hosts in those specific Hotspots" should aggressively target premium travelers, while those just outside must compete on value and amenities</a:t>
            </a:r>
            <a:endParaRPr sz="1100" dirty="0">
              <a:solidFill>
                <a:srgbClr val="222222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body" idx="1"/>
          </p:nvPr>
        </p:nvSpPr>
        <p:spPr>
          <a:xfrm>
            <a:off x="540000" y="860725"/>
            <a:ext cx="32889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US" b="1" dirty="0">
                <a:ea typeface="Titillium Web"/>
                <a:cs typeface="Titillium Web"/>
                <a:sym typeface="Titillium Web"/>
              </a:rPr>
              <a:t>LICENCE</a:t>
            </a:r>
            <a:endParaRPr b="1" dirty="0"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4769999" y="860725"/>
            <a:ext cx="3998700" cy="20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333333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Slides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are shared with the following license:</a:t>
            </a:r>
            <a:endParaRPr sz="1600" b="0" i="0" u="none" strike="noStrike" cap="none" dirty="0">
              <a:solidFill>
                <a:srgbClr val="333333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333333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The Topography of Travel: An Economic Analysis of Italian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Airbnbs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© 2025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by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Muhammad Fahad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, is licensed under a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Creative Commons Attribution 4.0 International</a:t>
            </a:r>
            <a:endParaRPr dirty="0">
              <a:latin typeface="Aptos" panose="020B000402020202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To view a copy of this license, visit https://creativecommons.org/licenses/by/4.0/</a:t>
            </a:r>
            <a:endParaRPr sz="1600" b="1" i="0" u="none" strike="noStrike" cap="none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982</Words>
  <Application>Microsoft Office PowerPoint</Application>
  <PresentationFormat>On-screen Show (16:9)</PresentationFormat>
  <Paragraphs>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Noto Sans Symbols</vt:lpstr>
      <vt:lpstr>Aptos</vt:lpstr>
      <vt:lpstr>Titillium Web</vt:lpstr>
      <vt:lpstr>Lekton</vt:lpstr>
      <vt:lpstr>Arial</vt:lpstr>
      <vt:lpstr>Garamond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m.fahad5@campus.unimib.it</cp:lastModifiedBy>
  <cp:revision>8</cp:revision>
  <dcterms:modified xsi:type="dcterms:W3CDTF">2026-01-19T02:19:34Z</dcterms:modified>
</cp:coreProperties>
</file>