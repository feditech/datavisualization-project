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7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Garamond" panose="02020404030301010803" pitchFamily="18" charset="0"/>
      <p:regular r:id="rId11"/>
      <p:bold r:id="rId12"/>
      <p:italic r:id="rId13"/>
    </p:embeddedFont>
    <p:embeddedFont>
      <p:font typeface="Lekton" panose="020B0604020202020204" charset="0"/>
      <p:regular r:id="rId14"/>
      <p:bold r:id="rId15"/>
      <p:italic r:id="rId16"/>
    </p:embeddedFont>
    <p:embeddedFont>
      <p:font typeface="Titillium Web" panose="00000500000000000000" pitchFamily="2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386">
          <p15:clr>
            <a:srgbClr val="A4A3A4"/>
          </p15:clr>
        </p15:guide>
        <p15:guide id="2" pos="2098">
          <p15:clr>
            <a:srgbClr val="A4A3A4"/>
          </p15:clr>
        </p15:guide>
        <p15:guide id="3" pos="2324">
          <p15:clr>
            <a:srgbClr val="A4A3A4"/>
          </p15:clr>
        </p15:guide>
        <p15:guide id="4" pos="340">
          <p15:clr>
            <a:srgbClr val="A4A3A4"/>
          </p15:clr>
        </p15:guide>
        <p15:guide id="5" pos="2977">
          <p15:clr>
            <a:srgbClr val="A4A3A4"/>
          </p15:clr>
        </p15:guide>
        <p15:guide id="6" orient="horz" pos="737">
          <p15:clr>
            <a:srgbClr val="A4A3A4"/>
          </p15:clr>
        </p15:guide>
        <p15:guide id="7" orient="horz" pos="3005">
          <p15:clr>
            <a:srgbClr val="A4A3A4"/>
          </p15:clr>
        </p15:guide>
        <p15:guide id="8" orient="horz" pos="1757">
          <p15:clr>
            <a:srgbClr val="A4A3A4"/>
          </p15:clr>
        </p15:guide>
        <p15:guide id="9" orient="horz" pos="542">
          <p15:clr>
            <a:srgbClr val="A4A3A4"/>
          </p15:clr>
        </p15:guide>
        <p15:guide id="10" orient="horz" pos="101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880" y="44"/>
      </p:cViewPr>
      <p:guideLst>
        <p:guide pos="5386"/>
        <p:guide pos="2098"/>
        <p:guide pos="2324"/>
        <p:guide pos="340"/>
        <p:guide pos="2977"/>
        <p:guide orient="horz" pos="737"/>
        <p:guide orient="horz" pos="3005"/>
        <p:guide orient="horz" pos="1757"/>
        <p:guide orient="horz" pos="542"/>
        <p:guide orient="horz" pos="10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Garamond" panose="02020404030301010803" pitchFamily="18" charset="0"/>
        <a:ea typeface="Garamond" panose="02020404030301010803" pitchFamily="18" charset="0"/>
        <a:cs typeface="Arial"/>
        <a:sym typeface="Arial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9" name="Google Shape;109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4" name="Google Shape;11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0" name="Google Shape;12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8" name="Google Shape;12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" name="Google Shape;13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b5dbef20bb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4" name="Google Shape;144;g3b5dbef20bb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b5dbef20bb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6" name="Google Shape;156;g3b5dbef20bb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l titolo 1">
  <p:cSld name="TITLE_1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017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Lekton"/>
              <a:buNone/>
              <a:defRPr sz="4200"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867500" y="3427050"/>
            <a:ext cx="7557600" cy="5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D66B55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" name="Google Shape;13;p2"/>
          <p:cNvSpPr txBox="1"/>
          <p:nvPr/>
        </p:nvSpPr>
        <p:spPr>
          <a:xfrm>
            <a:off x="726825" y="257900"/>
            <a:ext cx="695700" cy="48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4439150" y="100"/>
            <a:ext cx="4704900" cy="51435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837675" y="1656850"/>
            <a:ext cx="3288900" cy="291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1578700"/>
            <a:ext cx="8520300" cy="14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Lekton"/>
              <a:buNone/>
              <a:defRPr sz="3000"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22" name="Google Shape;2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Google Shape;23;p5"/>
          <p:cNvSpPr txBox="1">
            <a:spLocks noGrp="1"/>
          </p:cNvSpPr>
          <p:nvPr>
            <p:ph type="subTitle" idx="1"/>
          </p:nvPr>
        </p:nvSpPr>
        <p:spPr>
          <a:xfrm>
            <a:off x="2250825" y="3032375"/>
            <a:ext cx="4298400" cy="35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333333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della sezione 1">
  <p:cSld name="SECTION_HEADER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6" name="Google Shape;26;p6"/>
          <p:cNvSpPr txBox="1">
            <a:spLocks noGrp="1"/>
          </p:cNvSpPr>
          <p:nvPr>
            <p:ph type="body" idx="1"/>
          </p:nvPr>
        </p:nvSpPr>
        <p:spPr>
          <a:xfrm>
            <a:off x="461300" y="1594350"/>
            <a:ext cx="8221500" cy="13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27" name="Google Shape;27;p6"/>
          <p:cNvSpPr txBox="1">
            <a:spLocks noGrp="1"/>
          </p:cNvSpPr>
          <p:nvPr>
            <p:ph type="body" idx="2"/>
          </p:nvPr>
        </p:nvSpPr>
        <p:spPr>
          <a:xfrm>
            <a:off x="461250" y="3253963"/>
            <a:ext cx="8221500" cy="13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800"/>
              <a:buFont typeface="Lekton"/>
              <a:buChar char="●"/>
              <a:defRPr>
                <a:solidFill>
                  <a:srgbClr val="333333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○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333333"/>
              </a:buClr>
              <a:buSzPts val="1400"/>
              <a:buFont typeface="Lekton"/>
              <a:buChar char="■"/>
              <a:defRPr>
                <a:solidFill>
                  <a:srgbClr val="333333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body" idx="1"/>
          </p:nvPr>
        </p:nvSpPr>
        <p:spPr>
          <a:xfrm>
            <a:off x="311700" y="14572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2"/>
          </p:nvPr>
        </p:nvSpPr>
        <p:spPr>
          <a:xfrm>
            <a:off x="4832400" y="14572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●"/>
              <a:defRPr sz="1800"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429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Lekton"/>
              <a:buChar char="○"/>
              <a:defRPr sz="1800"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429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Font typeface="Lekton"/>
              <a:buChar char="■"/>
              <a:defRPr sz="1800"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">
  <p:cSld name="SECTION_TITLE_AND_DESCRIPTION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/>
          <p:nvPr/>
        </p:nvSpPr>
        <p:spPr>
          <a:xfrm>
            <a:off x="0" y="-125"/>
            <a:ext cx="9144000" cy="5143500"/>
          </a:xfrm>
          <a:prstGeom prst="rect">
            <a:avLst/>
          </a:prstGeom>
          <a:solidFill>
            <a:srgbClr val="D66B5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34" name="Google Shape;34;p8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35" name="Google Shape;35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6" name="Google Shape;36;p8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">
  <p:cSld name="SECTION_TITLE_AND_DESCRIPTION_1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39" name="Google Shape;39;p9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1175" y="-96750"/>
            <a:ext cx="9386000" cy="529365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41" name="Google Shape;41;p9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">
  <p:cSld name="SECTION_TITLE_AND_DESCRIPTION_1_1_1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4" name="Google Shape;44;p10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10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3333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47" name="Google Shape;47;p10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2">
  <p:cSld name="SECTION_TITLE_AND_DESCRIPTION_1_1_1_2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11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52275" y="-52250"/>
            <a:ext cx="9338651" cy="526695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1" name="Google Shape;51;p11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52" name="Google Shape;52;p11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3" name="Google Shape;53;p11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1">
  <p:cSld name="CUSTOM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5" name="Google Shape;55;p12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6" name="Google Shape;56;p12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C678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2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58" name="Google Shape;58;p12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">
  <p:cSld name="SECTION_TITLE_AND_DESCRIPTION_1_1_1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52275" y="-70075"/>
            <a:ext cx="9354474" cy="5275875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63" name="Google Shape;63;p13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4" name="Google Shape;64;p13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2">
  <p:cSld name="CUSTOM_1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14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67" name="Google Shape;67;p14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8F446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14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69" name="Google Shape;69;p14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">
  <p:cSld name="SECTION_TITLE_AND_DESCRIPTION_1_1_1_1_1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70075" y="-87875"/>
            <a:ext cx="9370249" cy="5284775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3" name="Google Shape;73;p15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74" name="Google Shape;74;p15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5" name="Google Shape;75;p15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 3">
  <p:cSld name="CUSTOM_2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7" name="Google Shape;77;p16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78" name="Google Shape;78;p16"/>
          <p:cNvSpPr/>
          <p:nvPr/>
        </p:nvSpPr>
        <p:spPr>
          <a:xfrm>
            <a:off x="-25" y="50"/>
            <a:ext cx="9144000" cy="5143500"/>
          </a:xfrm>
          <a:prstGeom prst="rect">
            <a:avLst/>
          </a:prstGeom>
          <a:solidFill>
            <a:srgbClr val="322E4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6"/>
          <p:cNvSpPr txBox="1">
            <a:spLocks noGrp="1"/>
          </p:cNvSpPr>
          <p:nvPr>
            <p:ph type="body" idx="1"/>
          </p:nvPr>
        </p:nvSpPr>
        <p:spPr>
          <a:xfrm>
            <a:off x="461300" y="724075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  <p:sp>
        <p:nvSpPr>
          <p:cNvPr id="80" name="Google Shape;80;p16"/>
          <p:cNvSpPr txBox="1">
            <a:spLocks noGrp="1"/>
          </p:cNvSpPr>
          <p:nvPr>
            <p:ph type="body" idx="2"/>
          </p:nvPr>
        </p:nvSpPr>
        <p:spPr>
          <a:xfrm>
            <a:off x="461250" y="2869400"/>
            <a:ext cx="8221500" cy="16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Lekton"/>
              <a:buChar char="●"/>
              <a:defRPr b="1">
                <a:solidFill>
                  <a:schemeClr val="lt1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●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Lekton"/>
              <a:buChar char="○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Lekton"/>
              <a:buChar char="■"/>
              <a:defRPr b="1">
                <a:solidFill>
                  <a:schemeClr val="lt1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della sezione e descrizione 1 1 1 1 1 1">
  <p:cSld name="SECTION_TITLE_AND_DESCRIPTION_1_1_1_1_1_1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52275" y="-78950"/>
            <a:ext cx="9417551" cy="5311450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4" name="Google Shape;84;p17"/>
          <p:cNvSpPr txBox="1">
            <a:spLocks noGrp="1"/>
          </p:cNvSpPr>
          <p:nvPr>
            <p:ph type="subTitle" idx="1"/>
          </p:nvPr>
        </p:nvSpPr>
        <p:spPr>
          <a:xfrm>
            <a:off x="292190" y="1258275"/>
            <a:ext cx="3016800" cy="5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cxnSp>
        <p:nvCxnSpPr>
          <p:cNvPr id="85" name="Google Shape;85;p17"/>
          <p:cNvCxnSpPr/>
          <p:nvPr/>
        </p:nvCxnSpPr>
        <p:spPr>
          <a:xfrm>
            <a:off x="390775" y="1062900"/>
            <a:ext cx="429900" cy="0"/>
          </a:xfrm>
          <a:prstGeom prst="straightConnector1">
            <a:avLst/>
          </a:prstGeom>
          <a:noFill/>
          <a:ln w="3810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6" name="Google Shape;86;p17"/>
          <p:cNvSpPr txBox="1">
            <a:spLocks noGrp="1"/>
          </p:cNvSpPr>
          <p:nvPr>
            <p:ph type="body" idx="2"/>
          </p:nvPr>
        </p:nvSpPr>
        <p:spPr>
          <a:xfrm>
            <a:off x="292200" y="2336800"/>
            <a:ext cx="3357600" cy="216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Lekton"/>
              <a:buChar char="●"/>
              <a:defRPr b="1">
                <a:solidFill>
                  <a:srgbClr val="FFFFFF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●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Lekton"/>
              <a:buChar char="○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400"/>
              <a:buFont typeface="Lekton"/>
              <a:buChar char="■"/>
              <a:defRPr b="1">
                <a:solidFill>
                  <a:srgbClr val="FFFFFF"/>
                </a:solidFill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65814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None/>
              <a:defRPr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</a:lstStyle>
          <a:p>
            <a:endParaRPr dirty="0"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9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66B55"/>
              </a:buClr>
              <a:buSzPts val="20000"/>
              <a:buFont typeface="Lekton"/>
              <a:buNone/>
              <a:defRPr sz="20000" b="1">
                <a:solidFill>
                  <a:srgbClr val="D66B55"/>
                </a:solidFill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rPr dirty="0"/>
              <a:t>xx%</a:t>
            </a:r>
          </a:p>
        </p:txBody>
      </p:sp>
      <p:sp>
        <p:nvSpPr>
          <p:cNvPr id="92" name="Google Shape;92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3" name="Google Shape;93;p19"/>
          <p:cNvSpPr txBox="1">
            <a:spLocks noGrp="1"/>
          </p:cNvSpPr>
          <p:nvPr>
            <p:ph type="subTitle" idx="1"/>
          </p:nvPr>
        </p:nvSpPr>
        <p:spPr>
          <a:xfrm>
            <a:off x="2430575" y="2993300"/>
            <a:ext cx="42048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Titillium Web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94" name="Google Shape;94;p19"/>
          <p:cNvSpPr txBox="1">
            <a:spLocks noGrp="1"/>
          </p:cNvSpPr>
          <p:nvPr>
            <p:ph type="body" idx="2"/>
          </p:nvPr>
        </p:nvSpPr>
        <p:spPr>
          <a:xfrm>
            <a:off x="2430575" y="3477850"/>
            <a:ext cx="4204800" cy="118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Lekton"/>
              <a:buChar char="●"/>
              <a:defRPr b="1">
                <a:latin typeface="Aptos" panose="020B0004020202020204" pitchFamily="34" charset="0"/>
                <a:ea typeface="Aptos" panose="020B0004020202020204" pitchFamily="34" charset="0"/>
                <a:cs typeface="Aptos" panose="020B0004020202020204" pitchFamily="34" charset="0"/>
                <a:sym typeface="Lekton"/>
              </a:defRPr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●"/>
              <a:defRPr b="1">
                <a:latin typeface="Lekton"/>
                <a:ea typeface="Lekton"/>
                <a:cs typeface="Lekton"/>
                <a:sym typeface="Lekton"/>
              </a:defRPr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Lekton"/>
              <a:buChar char="○"/>
              <a:defRPr b="1">
                <a:latin typeface="Lekton"/>
                <a:ea typeface="Lekton"/>
                <a:cs typeface="Lekton"/>
                <a:sym typeface="Lekton"/>
              </a:defRPr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Lekton"/>
              <a:buChar char="■"/>
              <a:defRPr b="1">
                <a:latin typeface="Lekton"/>
                <a:ea typeface="Lekton"/>
                <a:cs typeface="Lekton"/>
                <a:sym typeface="Lekton"/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ptos" panose="020B0004020202020204" pitchFamily="34" charset="0"/>
                <a:ea typeface="Aptos" panose="020B0004020202020204" pitchFamily="34" charset="0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Garamond" panose="02020404030301010803" pitchFamily="18" charset="0"/>
          <a:ea typeface="Garamond" panose="02020404030301010803" pitchFamily="18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Garamond" panose="02020404030301010803" pitchFamily="18" charset="0"/>
          <a:ea typeface="Garamond" panose="02020404030301010803" pitchFamily="18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/>
        </p:nvSpPr>
        <p:spPr>
          <a:xfrm>
            <a:off x="1277000" y="700450"/>
            <a:ext cx="2128500" cy="14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</p:txBody>
      </p:sp>
      <p:sp>
        <p:nvSpPr>
          <p:cNvPr id="102" name="Google Shape;102;p21"/>
          <p:cNvSpPr txBox="1"/>
          <p:nvPr/>
        </p:nvSpPr>
        <p:spPr>
          <a:xfrm>
            <a:off x="4559225" y="4275600"/>
            <a:ext cx="4584900" cy="7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Student name: </a:t>
            </a:r>
            <a:r>
              <a:rPr lang="en-US" sz="14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Muhammad Fahad</a:t>
            </a:r>
            <a:endParaRPr sz="14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Student ID: </a:t>
            </a:r>
            <a:r>
              <a:rPr lang="en-US" sz="14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948477</a:t>
            </a:r>
            <a:endParaRPr sz="14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Email : </a:t>
            </a:r>
            <a:r>
              <a:rPr lang="en-US" sz="14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Titillium Web"/>
                <a:cs typeface="Titillium Web"/>
                <a:sym typeface="Titillium Web"/>
              </a:rPr>
              <a:t>m.fahad5@campus.unimib.it</a:t>
            </a:r>
            <a:endParaRPr sz="14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1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Titillium Web"/>
              <a:cs typeface="Titillium Web"/>
              <a:sym typeface="Titillium Web"/>
            </a:endParaRPr>
          </a:p>
        </p:txBody>
      </p:sp>
      <p:cxnSp>
        <p:nvCxnSpPr>
          <p:cNvPr id="103" name="Google Shape;103;p21"/>
          <p:cNvCxnSpPr/>
          <p:nvPr/>
        </p:nvCxnSpPr>
        <p:spPr>
          <a:xfrm>
            <a:off x="4572000" y="0"/>
            <a:ext cx="0" cy="51345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4" name="Google Shape;104;p21"/>
          <p:cNvSpPr txBox="1"/>
          <p:nvPr/>
        </p:nvSpPr>
        <p:spPr>
          <a:xfrm>
            <a:off x="4473464" y="718400"/>
            <a:ext cx="4670533" cy="30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Topography of Travel: An Economic Analysis of Italian </a:t>
            </a:r>
            <a:r>
              <a:rPr lang="en-US" sz="32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Airbnbs</a:t>
            </a:r>
            <a:endParaRPr sz="3200" b="1" i="0" u="none" strike="noStrike" cap="none" dirty="0">
              <a:solidFill>
                <a:srgbClr val="000000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  <p:sp>
        <p:nvSpPr>
          <p:cNvPr id="105" name="Google Shape;105;p21"/>
          <p:cNvSpPr txBox="1"/>
          <p:nvPr/>
        </p:nvSpPr>
        <p:spPr>
          <a:xfrm>
            <a:off x="-12900" y="1551150"/>
            <a:ext cx="4584900" cy="24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endParaRPr sz="2400" b="1" i="1" u="none" strike="noStrike" cap="none" dirty="0">
              <a:solidFill>
                <a:schemeClr val="dk2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9035" y="487680"/>
            <a:ext cx="4264430" cy="44368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 txBox="1"/>
          <p:nvPr/>
        </p:nvSpPr>
        <p:spPr>
          <a:xfrm>
            <a:off x="540000" y="384725"/>
            <a:ext cx="8010000" cy="31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Research questions</a:t>
            </a:r>
            <a:endParaRPr sz="18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Beyond physical property characteristics (size, room type), what are the hidden structural drivers that determine listing prices in the Italian short-term rental market?</a:t>
            </a:r>
            <a:endParaRPr sz="1800" b="1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"Brand" Effect: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“How strictly is wealth concentrated within specific 'Luxury Enclaves' (Neighborhoods), and does this create a 'Location Premium' that defies city-wide averages?</a:t>
            </a:r>
            <a:r>
              <a:rPr lang="en-US" dirty="0">
                <a:latin typeface="Aptos" panose="020B0004020202020204" pitchFamily="34" charset="0"/>
              </a:rPr>
              <a:t>”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Lekton"/>
              <a:buChar char="●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"Time" Arbitrage: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“How does seasonality impact pricing volatility across different cities (e.g., Leisure vs. Business hubs), and where can travelers find the best value-for-money?”</a:t>
            </a:r>
            <a:endParaRPr sz="14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13970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23"/>
          <p:cNvSpPr txBox="1"/>
          <p:nvPr/>
        </p:nvSpPr>
        <p:spPr>
          <a:xfrm>
            <a:off x="540000" y="384724"/>
            <a:ext cx="8010000" cy="4187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About Data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Dataset Chosen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: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 Italian Airbnb Listings Dataset (airbnbitaly_dm.csv).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Source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: 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Aggregated rental data (Simulated/Public Domain for academic use).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Initial Considerations: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 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"The raw data contained over </a:t>
            </a:r>
            <a:r>
              <a:rPr lang="en-US" sz="14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280,000 rows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. My primary concern was the presence of extreme outliers (luxury villas priced at €5,000+) which skewed the averages and made standard visualizations unreadable.“</a:t>
            </a:r>
            <a:endParaRPr dirty="0">
              <a:latin typeface="Aptos" panose="020B0004020202020204" pitchFamily="34" charset="0"/>
            </a:endParaRPr>
          </a:p>
          <a:p>
            <a:pPr marL="457200" marR="0" lvl="0" indent="-3175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Data Quality &amp; Cleaning:</a:t>
            </a:r>
            <a:endParaRPr dirty="0">
              <a:latin typeface="Aptos" panose="020B0004020202020204" pitchFamily="34" charset="0"/>
            </a:endParaRPr>
          </a:p>
          <a:p>
            <a:pPr marL="139700" lvl="5">
              <a:buClr>
                <a:srgbClr val="333333"/>
              </a:buClr>
              <a:buSzPts val="1400"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</a:t>
            </a:r>
            <a:r>
              <a:rPr lang="en-US" b="1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Encoding Issues: 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Handled Latin-1 character encoding to correctly preserve Italian city 	names (e.g., Venezia vs Venice).</a:t>
            </a:r>
            <a:endParaRPr lang="en-US" dirty="0">
              <a:latin typeface="Aptos" panose="020B0004020202020204" pitchFamily="34" charset="0"/>
            </a:endParaRPr>
          </a:p>
          <a:p>
            <a:pPr marL="139700">
              <a:spcBef>
                <a:spcPts val="1000"/>
              </a:spcBef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</a:t>
            </a:r>
            <a:r>
              <a:rPr lang="en-US" b="1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Filtering: 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Removed inactive listings (0 reviews) and extreme outliers (Price &gt; €600) to focus 	analysis on the "accessible" travel market (approx. 95% of data).</a:t>
            </a:r>
          </a:p>
          <a:p>
            <a:pPr marL="139700">
              <a:spcBef>
                <a:spcPts val="1000"/>
              </a:spcBef>
            </a:pP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sym typeface="Lekton"/>
              </a:rPr>
              <a:t>	</a:t>
            </a:r>
            <a:r>
              <a:rPr lang="en-US" b="1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Normalization: 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Grouped data by Neighborhood and Season to allow for macro-level 	comparisons rather than individual listing analysis.</a:t>
            </a:r>
          </a:p>
          <a:p>
            <a:pPr marL="139700">
              <a:spcBef>
                <a:spcPts val="1000"/>
              </a:spcBef>
            </a:pPr>
            <a:endParaRPr lang="en-US" dirty="0">
              <a:latin typeface="Aptos" panose="020B0004020202020204" pitchFamily="34" charset="0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4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4"/>
          <p:cNvSpPr txBox="1"/>
          <p:nvPr/>
        </p:nvSpPr>
        <p:spPr>
          <a:xfrm>
            <a:off x="540000" y="384725"/>
            <a:ext cx="8010000" cy="31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Methodology</a:t>
            </a:r>
            <a:endParaRPr sz="1600" b="0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425450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Data Cleaning:</a:t>
            </a:r>
            <a:endParaRPr dirty="0">
              <a:latin typeface="Aptos" panose="020B0004020202020204" pitchFamily="34" charset="0"/>
            </a:endParaRPr>
          </a:p>
          <a:p>
            <a:pPr marL="139700" marR="0" lvl="8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Removed rows with missing coordinates or 0 reviews (inactive).</a:t>
            </a:r>
            <a:endParaRPr dirty="0">
              <a:latin typeface="Aptos" panose="020B0004020202020204" pitchFamily="34" charset="0"/>
            </a:endParaRPr>
          </a:p>
          <a:p>
            <a:pPr marL="139700" marR="0" lvl="8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Aggregated data by Neighborhood and City to analyze macro trends.</a:t>
            </a:r>
            <a:endParaRPr dirty="0">
              <a:latin typeface="Aptos" panose="020B0004020202020204" pitchFamily="34" charset="0"/>
            </a:endParaRPr>
          </a:p>
          <a:p>
            <a:pPr marL="139700" marR="0" lvl="8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Filtered outliers (&gt;€600) to normalize for the standard market.</a:t>
            </a:r>
            <a:endParaRPr dirty="0">
              <a:latin typeface="Aptos" panose="020B0004020202020204" pitchFamily="34" charset="0"/>
            </a:endParaRPr>
          </a:p>
          <a:p>
            <a:pPr marL="425450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Merging:</a:t>
            </a:r>
            <a:endParaRPr dirty="0">
              <a:latin typeface="Aptos" panose="020B0004020202020204" pitchFamily="34" charset="0"/>
            </a:endParaRPr>
          </a:p>
          <a:p>
            <a:pPr marL="139700">
              <a:spcBef>
                <a:spcPts val="1000"/>
              </a:spcBef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Simulated a multi-source process by enriching the raw data with OpenStreetMap API data 	(Museums/Restaurants).</a:t>
            </a:r>
            <a:endParaRPr lang="en-US" dirty="0">
              <a:latin typeface="Aptos" panose="020B0004020202020204" pitchFamily="34" charset="0"/>
            </a:endParaRPr>
          </a:p>
          <a:p>
            <a:pPr marL="1397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	Merged these spatial counts onto the master dataset using </a:t>
            </a:r>
            <a:r>
              <a:rPr lang="en-US" sz="1400" b="0" i="0" u="none" strike="noStrike" cap="none" dirty="0" err="1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KDTree</a:t>
            </a:r>
            <a:r>
              <a:rPr lang="en-US" sz="14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 algorithm</a:t>
            </a:r>
            <a:endParaRPr dirty="0">
              <a:latin typeface="Aptos" panose="020B0004020202020204" pitchFamily="34" charset="0"/>
            </a:endParaRPr>
          </a:p>
          <a:p>
            <a:pPr marL="425450" marR="0" lvl="0" indent="-28575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333333"/>
              </a:buClr>
              <a:buSzPts val="1400"/>
              <a:buFont typeface="Noto Sans Symbols"/>
              <a:buChar char="❑"/>
            </a:pP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Lekton"/>
                <a:cs typeface="Lekton"/>
                <a:sym typeface="Lekton"/>
              </a:rPr>
              <a:t>Software Used: </a:t>
            </a:r>
            <a:endParaRPr lang="en-US" b="1" i="0" u="none" strike="noStrike" cap="none" dirty="0">
              <a:latin typeface="Aptos" panose="020B0004020202020204" pitchFamily="34" charset="0"/>
              <a:ea typeface="Lekton"/>
              <a:cs typeface="Lekton"/>
              <a:sym typeface="Lekton"/>
            </a:endParaRPr>
          </a:p>
          <a:p>
            <a:pPr marL="139700" lvl="1">
              <a:spcBef>
                <a:spcPts val="1000"/>
              </a:spcBef>
              <a:buClr>
                <a:srgbClr val="333333"/>
              </a:buClr>
              <a:buSzPts val="1400"/>
            </a:pPr>
            <a:r>
              <a:rPr lang="en-US" sz="1200" b="1" dirty="0">
                <a:solidFill>
                  <a:schemeClr val="dk1"/>
                </a:solidFill>
                <a:latin typeface="Aptos" panose="020B0004020202020204" pitchFamily="34" charset="0"/>
                <a:sym typeface="Lekton"/>
              </a:rPr>
              <a:t>	</a:t>
            </a: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</a:rPr>
              <a:t>Python (Pandas for manipulation, Matplotlib/Seaborn for static charts) and OpenStreetMap 	API (for geospatial enrichment).</a:t>
            </a:r>
          </a:p>
          <a:p>
            <a:pPr marL="91440" lvl="1">
              <a:spcBef>
                <a:spcPts val="600"/>
              </a:spcBef>
              <a:buClr>
                <a:srgbClr val="333333"/>
              </a:buClr>
              <a:buSzPts val="1400"/>
            </a:pPr>
            <a:r>
              <a:rPr lang="en-US" dirty="0">
                <a:solidFill>
                  <a:schemeClr val="dk1"/>
                </a:solidFill>
                <a:latin typeface="Aptos" panose="020B0004020202020204" pitchFamily="34" charset="0"/>
              </a:rPr>
              <a:t>	PowerPoint/Canva for final narrative layout and design.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5"/>
          <p:cNvSpPr txBox="1"/>
          <p:nvPr/>
        </p:nvSpPr>
        <p:spPr>
          <a:xfrm>
            <a:off x="540000" y="384725"/>
            <a:ext cx="8010000" cy="43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 dirty="0">
                <a:solidFill>
                  <a:srgbClr val="D66B55"/>
                </a:solidFill>
                <a:latin typeface="Aptos" panose="020B0004020202020204" pitchFamily="34" charset="0"/>
                <a:sym typeface="Arial"/>
              </a:rPr>
              <a:t>Insights from the Data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1" i="0" u="none" strike="noStrike" cap="none" dirty="0">
              <a:solidFill>
                <a:srgbClr val="D66B55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"Luxury Enclave" Phenomenon: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Wealth is not evenly distributed. It is highly concentrated in specific historic districts (e.g., </a:t>
            </a:r>
            <a:r>
              <a:rPr lang="en-US" sz="1400" b="0" i="1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San Marco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in Venice, </a:t>
            </a:r>
            <a:r>
              <a:rPr lang="en-US" sz="1400" b="0" i="1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Brera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in Milan). These "Micro-Climates" command prices </a:t>
            </a: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2x higher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than the national average.</a:t>
            </a:r>
            <a:endParaRPr dirty="0">
              <a:latin typeface="Aptos" panose="020B0004020202020204" pitchFamily="34" charset="0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Volatility of Venice: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Venice exhibits extreme price elasticity. It is the most expensive city in "Early Summer" but crashes to become affordable in "Early Winter.“</a:t>
            </a:r>
            <a:endParaRPr dirty="0">
              <a:latin typeface="Aptos" panose="020B0004020202020204" pitchFamily="34" charset="0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The Stability of Milan: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Unlike leisure destinations, Milan shows remarkably stable pricing year-round, reflecting its nature as a business/industrial hub less reliant on seasonal tourism.</a:t>
            </a:r>
            <a:endParaRPr dirty="0">
              <a:latin typeface="Aptos" panose="020B0004020202020204" pitchFamily="34" charset="0"/>
            </a:endParaRPr>
          </a:p>
          <a:p>
            <a:pPr marL="285750" marR="0" lvl="0" indent="-196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ptos" panose="020B0004020202020204" pitchFamily="34" charset="0"/>
              <a:sym typeface="Arial"/>
            </a:endParaRP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Noto Sans Symbols"/>
              <a:buChar char="❑"/>
            </a:pPr>
            <a:r>
              <a:rPr lang="en-US" sz="1400" b="1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Strategic Implication:</a:t>
            </a:r>
            <a:r>
              <a:rPr lang="en-US" sz="14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sym typeface="Arial"/>
              </a:rPr>
              <a:t> Smart travelers can "beat the market" by shifting travel dates (Time Arbitrage) or moving just outside top-tier neighborhoods (Location Arbitrage).</a:t>
            </a:r>
            <a:endParaRPr dirty="0"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6"/>
          <p:cNvSpPr txBox="1">
            <a:spLocks noGrp="1"/>
          </p:cNvSpPr>
          <p:nvPr>
            <p:ph type="body" idx="1"/>
          </p:nvPr>
        </p:nvSpPr>
        <p:spPr>
          <a:xfrm>
            <a:off x="242950" y="381925"/>
            <a:ext cx="32889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Timing the Market: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The Seasonal Price Matrix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chemeClr val="dk1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.</a:t>
            </a:r>
            <a:endParaRPr sz="1600" b="1" dirty="0">
              <a:solidFill>
                <a:schemeClr val="dk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6"/>
          <p:cNvSpPr txBox="1"/>
          <p:nvPr/>
        </p:nvSpPr>
        <p:spPr>
          <a:xfrm>
            <a:off x="4769999" y="860725"/>
            <a:ext cx="3998615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Slides</a:t>
            </a:r>
            <a:r>
              <a:rPr lang="en-US" sz="1600" b="0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are shared with the following license:</a:t>
            </a: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The Topography of Travel: An Economic Analysis of Italian 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Airbnbs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© 2025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' 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by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Muhammad Fahad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, is licensed under a 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Creative Commons Attribution 4.0 International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To view a copy of this license, visit https://creativecommons.org/licenses/by/4.0/</a:t>
            </a:r>
            <a:endParaRPr sz="1600" b="1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137" name="Google Shape;137;p26"/>
          <p:cNvPicPr preferRelativeResize="0"/>
          <p:nvPr/>
        </p:nvPicPr>
        <p:blipFill rotWithShape="1">
          <a:blip r:embed="rId3">
            <a:alphaModFix/>
          </a:blip>
          <a:srcRect l="41745"/>
          <a:stretch/>
        </p:blipFill>
        <p:spPr>
          <a:xfrm>
            <a:off x="3900354" y="0"/>
            <a:ext cx="5243648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6"/>
          <p:cNvSpPr txBox="1"/>
          <p:nvPr/>
        </p:nvSpPr>
        <p:spPr>
          <a:xfrm>
            <a:off x="151265" y="2046275"/>
            <a:ext cx="3501600" cy="1246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chemeClr val="dk1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Venice vs. Milan:</a:t>
            </a:r>
            <a:b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</a:b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Venice (Venezia) is highly volatile. It is extremely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pricey in Summer but crashes in Winter. In contrast, Milan (Milano) remains relatively stable (Yellow/Light Green) year-round, reflecting its status as a consistent business hub.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sp>
        <p:nvSpPr>
          <p:cNvPr id="139" name="Google Shape;139;p26"/>
          <p:cNvSpPr txBox="1"/>
          <p:nvPr/>
        </p:nvSpPr>
        <p:spPr>
          <a:xfrm>
            <a:off x="171977" y="968975"/>
            <a:ext cx="37284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E69138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The 'Green Pocket' Strategy:</a:t>
            </a:r>
            <a:b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</a:b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This heatmap acts as a calendar for value. Red cells indicate expensive 'High Seasons’, while Green cells reveal bargain opportunities. Strategic travelers can save up to 40% by shifting their trip dates by just one season.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sp>
        <p:nvSpPr>
          <p:cNvPr id="140" name="Google Shape;140;p26"/>
          <p:cNvSpPr txBox="1"/>
          <p:nvPr/>
        </p:nvSpPr>
        <p:spPr>
          <a:xfrm>
            <a:off x="149758" y="3293075"/>
            <a:ext cx="36165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Key Takeaway:</a:t>
            </a:r>
            <a:b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</a:b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For maximum </a:t>
            </a:r>
            <a:r>
              <a:rPr lang="en-US" sz="1100" dirty="0" err="1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ROl</a:t>
            </a: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, avoid the 'Red Zones'. The best value-for-money ratio is found in Early Winter for Venice and Early Autumn for Rome.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pic>
        <p:nvPicPr>
          <p:cNvPr id="141" name="Google Shape;141;p26"/>
          <p:cNvPicPr preferRelativeResize="0"/>
          <p:nvPr/>
        </p:nvPicPr>
        <p:blipFill rotWithShape="1">
          <a:blip r:embed="rId4">
            <a:alphaModFix/>
          </a:blip>
          <a:srcRect l="41745"/>
          <a:stretch/>
        </p:blipFill>
        <p:spPr>
          <a:xfrm>
            <a:off x="3828904" y="0"/>
            <a:ext cx="524364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>
            <a:spLocks noGrp="1"/>
          </p:cNvSpPr>
          <p:nvPr>
            <p:ph type="body" idx="1"/>
          </p:nvPr>
        </p:nvSpPr>
        <p:spPr>
          <a:xfrm>
            <a:off x="242950" y="381925"/>
            <a:ext cx="32889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The Luxury Enclaves: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  <a:t>Wealth Is Concentrated</a:t>
            </a: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br>
              <a:rPr lang="en-US" sz="1600" b="1" dirty="0">
                <a:solidFill>
                  <a:schemeClr val="dk1"/>
                </a:solidFill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chemeClr val="dk1"/>
                </a:solidFill>
                <a:highlight>
                  <a:srgbClr val="FFFFFF"/>
                </a:highlight>
                <a:ea typeface="Arial"/>
                <a:cs typeface="Arial"/>
                <a:sym typeface="Arial"/>
              </a:rPr>
              <a:t>.</a:t>
            </a:r>
            <a:endParaRPr sz="1600" b="1" dirty="0">
              <a:solidFill>
                <a:schemeClr val="dk1"/>
              </a:solidFill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7"/>
          <p:cNvSpPr txBox="1"/>
          <p:nvPr/>
        </p:nvSpPr>
        <p:spPr>
          <a:xfrm>
            <a:off x="4769999" y="860725"/>
            <a:ext cx="3998700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Slides</a:t>
            </a:r>
            <a:r>
              <a:rPr lang="en-US" sz="1600" b="0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are shared with the following license:</a:t>
            </a: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The Topography of Travel: An Economic Analysis of Italian 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Airbnbs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© 2025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' 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by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Muhammad Fahad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, is licensed under a 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Creative Commons Attribution 4.0 International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To view a copy of this license, visit https://creativecommons.org/licenses/by/4.0/</a:t>
            </a:r>
            <a:endParaRPr sz="1600" b="1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</p:txBody>
      </p:sp>
      <p:pic>
        <p:nvPicPr>
          <p:cNvPr id="148" name="Google Shape;148;p27"/>
          <p:cNvPicPr preferRelativeResize="0"/>
          <p:nvPr/>
        </p:nvPicPr>
        <p:blipFill rotWithShape="1">
          <a:blip r:embed="rId3">
            <a:alphaModFix/>
          </a:blip>
          <a:srcRect l="43818"/>
          <a:stretch>
            <a:fillRect/>
          </a:stretch>
        </p:blipFill>
        <p:spPr>
          <a:xfrm>
            <a:off x="4086970" y="0"/>
            <a:ext cx="5057032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7"/>
          <p:cNvSpPr txBox="1"/>
          <p:nvPr/>
        </p:nvSpPr>
        <p:spPr>
          <a:xfrm>
            <a:off x="156335" y="1873012"/>
            <a:ext cx="30000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The Brand' Premium:</a:t>
            </a:r>
            <a:endParaRPr b="1" dirty="0">
              <a:latin typeface="Aptos" panose="020B0004020202020204" pitchFamily="34" charset="0"/>
            </a:endParaRPr>
          </a:p>
        </p:txBody>
      </p:sp>
      <p:sp>
        <p:nvSpPr>
          <p:cNvPr id="150" name="Google Shape;150;p27"/>
          <p:cNvSpPr txBox="1"/>
          <p:nvPr/>
        </p:nvSpPr>
        <p:spPr>
          <a:xfrm>
            <a:off x="213802" y="2315384"/>
            <a:ext cx="3501600" cy="1031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While these areas are populous, their price premium outpaces their size This suggests that ‘Neighborhood Brand’ (e.g., being near the Duomo or St Mark's Square) is a stronger driver of revenue than the property quality itself.</a:t>
            </a:r>
            <a:endParaRPr sz="1100" dirty="0">
              <a:latin typeface="Aptos" panose="020B0004020202020204" pitchFamily="34" charset="0"/>
            </a:endParaRPr>
          </a:p>
        </p:txBody>
      </p:sp>
      <p:sp>
        <p:nvSpPr>
          <p:cNvPr id="151" name="Google Shape;151;p27"/>
          <p:cNvSpPr txBox="1"/>
          <p:nvPr/>
        </p:nvSpPr>
        <p:spPr>
          <a:xfrm>
            <a:off x="171977" y="968975"/>
            <a:ext cx="37284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Uneven Distribution: </a:t>
            </a:r>
            <a:r>
              <a:rPr lang="en-US" sz="1100" dirty="0">
                <a:highlight>
                  <a:srgbClr val="FFFFFF"/>
                </a:highlight>
              </a:rPr>
              <a:t>Airbnb wealth in Italy is highly concentrated</a:t>
            </a: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. A handful of elite neighborhoods in Venice (San Marco) and Milan Centro, command prices double the national average</a:t>
            </a:r>
            <a:endParaRPr sz="1100" dirty="0">
              <a:latin typeface="Aptos" panose="020B0004020202020204" pitchFamily="34" charset="0"/>
            </a:endParaRPr>
          </a:p>
        </p:txBody>
      </p:sp>
      <p:sp>
        <p:nvSpPr>
          <p:cNvPr id="152" name="Google Shape;152;p27"/>
          <p:cNvSpPr txBox="1"/>
          <p:nvPr/>
        </p:nvSpPr>
        <p:spPr>
          <a:xfrm>
            <a:off x="156335" y="3388698"/>
            <a:ext cx="3000000" cy="4000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Strategic Implication:</a:t>
            </a:r>
            <a:endParaRPr b="1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  <p:sp>
        <p:nvSpPr>
          <p:cNvPr id="153" name="Google Shape;153;p27"/>
          <p:cNvSpPr txBox="1"/>
          <p:nvPr/>
        </p:nvSpPr>
        <p:spPr>
          <a:xfrm>
            <a:off x="156352" y="3831070"/>
            <a:ext cx="3616500" cy="861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1100" dirty="0">
                <a:highlight>
                  <a:srgbClr val="FFFFFF"/>
                </a:highlight>
              </a:rPr>
              <a:t>A one-size-fits-all</a:t>
            </a: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 pricing strategy is inefficient.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222222"/>
                </a:solidFill>
                <a:highlight>
                  <a:srgbClr val="FFFFFF"/>
                </a:highlight>
                <a:latin typeface="Aptos" panose="020B0004020202020204" pitchFamily="34" charset="0"/>
              </a:rPr>
              <a:t>Hosts in those specific Hotspots" should aggressively target premium travelers, while those just outside must compete on value and amenities</a:t>
            </a:r>
            <a:endParaRPr sz="1100" dirty="0">
              <a:solidFill>
                <a:srgbClr val="222222"/>
              </a:solidFill>
              <a:highlight>
                <a:srgbClr val="FFFFFF"/>
              </a:highlight>
              <a:latin typeface="Aptos" panose="020B0004020202020204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8"/>
          <p:cNvSpPr txBox="1">
            <a:spLocks noGrp="1"/>
          </p:cNvSpPr>
          <p:nvPr>
            <p:ph type="body" idx="1"/>
          </p:nvPr>
        </p:nvSpPr>
        <p:spPr>
          <a:xfrm>
            <a:off x="540000" y="860725"/>
            <a:ext cx="3288900" cy="47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1800"/>
              <a:buNone/>
            </a:pPr>
            <a:r>
              <a:rPr lang="en-US" b="1" dirty="0">
                <a:ea typeface="Titillium Web"/>
                <a:cs typeface="Titillium Web"/>
                <a:sym typeface="Titillium Web"/>
              </a:rPr>
              <a:t>LICENCE</a:t>
            </a:r>
            <a:endParaRPr b="1" dirty="0">
              <a:ea typeface="Titillium Web"/>
              <a:cs typeface="Titillium Web"/>
              <a:sym typeface="Titillium Web"/>
            </a:endParaRPr>
          </a:p>
        </p:txBody>
      </p:sp>
      <p:sp>
        <p:nvSpPr>
          <p:cNvPr id="159" name="Google Shape;159;p28"/>
          <p:cNvSpPr txBox="1"/>
          <p:nvPr/>
        </p:nvSpPr>
        <p:spPr>
          <a:xfrm>
            <a:off x="4769999" y="860725"/>
            <a:ext cx="3998700" cy="209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Slides</a:t>
            </a:r>
            <a:r>
              <a:rPr lang="en-US" sz="1600" b="0" i="0" u="none" strike="noStrike" cap="none" dirty="0">
                <a:solidFill>
                  <a:srgbClr val="333333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are shared with the following license:</a:t>
            </a: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endParaRPr sz="1600" b="0" i="0" u="none" strike="noStrike" cap="none" dirty="0">
              <a:solidFill>
                <a:srgbClr val="333333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The Topography of Travel: An Economic Analysis of Italian </a:t>
            </a:r>
            <a:r>
              <a:rPr lang="en-US" sz="1600" b="0" i="0" u="none" strike="noStrike" cap="none" dirty="0" err="1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Airbnbs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© 2025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by</a:t>
            </a:r>
            <a:r>
              <a:rPr lang="en-US" sz="1600" b="1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 Muhammad Fahad</a:t>
            </a:r>
            <a:r>
              <a:rPr lang="en-US" sz="1600" b="0" i="0" u="none" strike="noStrike" cap="none" dirty="0">
                <a:solidFill>
                  <a:schemeClr val="dk1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, is licensed under a </a:t>
            </a: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Creative Commons Attribution 4.0 International</a:t>
            </a:r>
            <a:endParaRPr dirty="0">
              <a:latin typeface="Aptos" panose="020B0004020202020204" pitchFamily="34" charset="0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500"/>
              </a:spcAft>
              <a:buNone/>
            </a:pPr>
            <a:r>
              <a:rPr lang="en-US" sz="1600" b="0" i="0" u="none" strike="noStrike" cap="none" dirty="0">
                <a:solidFill>
                  <a:srgbClr val="000000"/>
                </a:solidFill>
                <a:latin typeface="Aptos" panose="020B0004020202020204" pitchFamily="34" charset="0"/>
                <a:ea typeface="Calibri"/>
                <a:cs typeface="Calibri"/>
                <a:sym typeface="Calibri"/>
              </a:rPr>
              <a:t>To view a copy of this license, visit https://creativecommons.org/licenses/by/4.0/</a:t>
            </a:r>
            <a:endParaRPr sz="1600" b="1" i="0" u="none" strike="noStrike" cap="none" dirty="0">
              <a:solidFill>
                <a:schemeClr val="dk1"/>
              </a:solidFill>
              <a:latin typeface="Aptos" panose="020B0004020202020204" pitchFamily="34" charset="0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978</Words>
  <Application>Microsoft Office PowerPoint</Application>
  <PresentationFormat>On-screen Show (16:9)</PresentationFormat>
  <Paragraphs>61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Noto Sans Symbols</vt:lpstr>
      <vt:lpstr>Aptos</vt:lpstr>
      <vt:lpstr>Titillium Web</vt:lpstr>
      <vt:lpstr>Arial</vt:lpstr>
      <vt:lpstr>Garamond</vt:lpstr>
      <vt:lpstr>Lekton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m.fahad5@campus.unimib.it</cp:lastModifiedBy>
  <cp:revision>7</cp:revision>
  <dcterms:modified xsi:type="dcterms:W3CDTF">2026-01-19T01:52:55Z</dcterms:modified>
</cp:coreProperties>
</file>