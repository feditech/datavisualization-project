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Garamond" panose="02020404030301010803" pitchFamily="18" charset="0"/>
      <p:regular r:id="rId11"/>
      <p:bold r:id="rId12"/>
      <p:italic r:id="rId13"/>
    </p:embeddedFont>
    <p:embeddedFont>
      <p:font typeface="Lekton" panose="020B0604020202020204" charset="0"/>
      <p:regular r:id="rId14"/>
      <p:bold r:id="rId15"/>
      <p:italic r:id="rId16"/>
    </p:embeddedFont>
    <p:embeddedFont>
      <p:font typeface="Titillium Web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80" y="44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Garamond" panose="02020404030301010803" pitchFamily="18" charset="0"/>
        <a:ea typeface="Garamond" panose="02020404030301010803" pitchFamily="18" charset="0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5dbef20b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g3b5dbef20b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5dbef20b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g3b5dbef20b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D66B55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9" name="Google Shape;39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</a:lstStyle>
          <a:p>
            <a:endParaRPr dirty="0"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rPr dirty="0"/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Garamond" panose="02020404030301010803" pitchFamily="18" charset="0"/>
          <a:ea typeface="Garamond" panose="02020404030301010803" pitchFamily="18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Garamond" panose="02020404030301010803" pitchFamily="18" charset="0"/>
          <a:ea typeface="Garamond" panose="02020404030301010803" pitchFamily="18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editech/datavisualization-projec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/>
        </p:nvSpPr>
        <p:spPr>
          <a:xfrm>
            <a:off x="1277000" y="700450"/>
            <a:ext cx="2128500" cy="1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102" name="Google Shape;102;p21"/>
          <p:cNvSpPr txBox="1"/>
          <p:nvPr/>
        </p:nvSpPr>
        <p:spPr>
          <a:xfrm>
            <a:off x="4559225" y="4275600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Student name: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Muhammad Fahad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Student ID: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948477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Email 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m.fahad5@campus.unimib.it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103" name="Google Shape;103;p21"/>
          <p:cNvCxnSpPr/>
          <p:nvPr/>
        </p:nvCxnSpPr>
        <p:spPr>
          <a:xfrm>
            <a:off x="4572000" y="0"/>
            <a:ext cx="0" cy="51345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" name="Google Shape;104;p21"/>
          <p:cNvSpPr txBox="1"/>
          <p:nvPr/>
        </p:nvSpPr>
        <p:spPr>
          <a:xfrm>
            <a:off x="4473464" y="718400"/>
            <a:ext cx="4670533" cy="30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Topography of Travel: An Economic Analysis of Italian </a:t>
            </a:r>
            <a:r>
              <a:rPr lang="en-US" sz="32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Airbnbs</a:t>
            </a:r>
            <a:endParaRPr sz="3200" b="1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  <p:sp>
        <p:nvSpPr>
          <p:cNvPr id="105" name="Google Shape;105;p21"/>
          <p:cNvSpPr txBox="1"/>
          <p:nvPr/>
        </p:nvSpPr>
        <p:spPr>
          <a:xfrm>
            <a:off x="-12900" y="1551150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1" u="none" strike="noStrike" cap="none" dirty="0">
              <a:solidFill>
                <a:schemeClr val="dk2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9035" y="487680"/>
            <a:ext cx="4264430" cy="4436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/>
          <p:nvPr/>
        </p:nvSpPr>
        <p:spPr>
          <a:xfrm>
            <a:off x="540000" y="38472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Research questions</a:t>
            </a:r>
            <a:endParaRPr sz="18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Beyond physical property characteristics (size, room type), what are the hidden structural drivers that determine listing prices in the Italian short-term rental market?</a:t>
            </a:r>
            <a:endParaRPr sz="1800" b="1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"Brand" Effect: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“How strictly is wealth concentrated within specific 'Luxury Enclaves' (Neighborhoods), and does this create a 'Location Premium' that defies city-wide averages?</a:t>
            </a:r>
            <a:r>
              <a:rPr lang="en-US" dirty="0">
                <a:latin typeface="Aptos" panose="020B0004020202020204" pitchFamily="34" charset="0"/>
              </a:rPr>
              <a:t>”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"Time" Arbitrage: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“How does seasonality impact pricing volatility across different cities (e.g., Leisure vs. Business hubs), and where can travelers find the best value-for-money?”</a:t>
            </a:r>
            <a:endParaRPr sz="14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1397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/>
        </p:nvSpPr>
        <p:spPr>
          <a:xfrm>
            <a:off x="540000" y="384724"/>
            <a:ext cx="8010000" cy="4187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About Data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Dataset Chosen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: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Italian Airbnb Listings Dataset (airbnbitaly_dm.csv).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Source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: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Aggregated rental data (Simulated/Public Domain for academic use).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Initial Considerations: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"The raw data contained over 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280,000 rows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. My primary concern was the presence of extreme outliers (luxury villas priced at €5,000+) which skewed the averages and made standard visualizations unreadable.“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 Quality &amp; Cleaning:</a:t>
            </a:r>
            <a:endParaRPr dirty="0">
              <a:latin typeface="Aptos" panose="020B0004020202020204" pitchFamily="34" charset="0"/>
            </a:endParaRPr>
          </a:p>
          <a:p>
            <a:pPr marL="139700" lvl="5">
              <a:buClr>
                <a:srgbClr val="333333"/>
              </a:buClr>
              <a:buSzPts val="1400"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Encoding Issues: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Handled Latin-1 character encoding to correctly preserve Italian city 	names (e.g., Venezia vs Venice).</a:t>
            </a:r>
            <a:endParaRPr lang="en-US" dirty="0">
              <a:latin typeface="Aptos" panose="020B0004020202020204" pitchFamily="34" charset="0"/>
            </a:endParaRPr>
          </a:p>
          <a:p>
            <a:pPr marL="139700">
              <a:spcBef>
                <a:spcPts val="1000"/>
              </a:spcBef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Filtering: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Removed inactive listings (0 reviews) and extreme outliers (Price &gt; €600) to focus 	analysis on the "accessible" travel market (approx. 95% of data).</a:t>
            </a:r>
          </a:p>
          <a:p>
            <a:pPr marL="139700">
              <a:spcBef>
                <a:spcPts val="1000"/>
              </a:spcBef>
            </a:pP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Normalization: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Grouped data by Neighborhood and Season to allow for macro-level 	comparisons rather than individual listing analysis.</a:t>
            </a:r>
          </a:p>
          <a:p>
            <a:pPr marL="139700">
              <a:spcBef>
                <a:spcPts val="1000"/>
              </a:spcBef>
            </a:pPr>
            <a:endParaRPr lang="en-US" dirty="0">
              <a:latin typeface="Aptos" panose="020B0004020202020204" pitchFamily="34" charset="0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4"/>
          <p:cNvSpPr txBox="1"/>
          <p:nvPr/>
        </p:nvSpPr>
        <p:spPr>
          <a:xfrm>
            <a:off x="540000" y="38472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Methodology</a:t>
            </a:r>
            <a:endParaRPr sz="16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 Cleaning: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Removed rows with missing coordinates or 0 reviews (inactive).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Aggregated data by Neighborhood and City to analyze macro trends.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Filtered outliers (&gt;€600) to normalize for the standard market.</a:t>
            </a:r>
            <a:endParaRPr dirty="0">
              <a:latin typeface="Aptos" panose="020B0004020202020204" pitchFamily="34" charset="0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Merging:</a:t>
            </a:r>
            <a:endParaRPr dirty="0">
              <a:latin typeface="Aptos" panose="020B0004020202020204" pitchFamily="34" charset="0"/>
            </a:endParaRPr>
          </a:p>
          <a:p>
            <a:pPr marL="139700">
              <a:spcBef>
                <a:spcPts val="1000"/>
              </a:spcBef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Simulated a multi-source process by enriching the raw data with OpenStreetMap API data 	(Museums/Restaurants).</a:t>
            </a:r>
            <a:endParaRPr lang="en-US" dirty="0">
              <a:latin typeface="Aptos" panose="020B0004020202020204" pitchFamily="34" charset="0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Merged these spatial counts onto the master dataset using </a:t>
            </a:r>
            <a:r>
              <a:rPr lang="en-US" sz="1400" b="0" i="0" u="none" strike="noStrike" cap="none" dirty="0" err="1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KDTree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algorithm</a:t>
            </a:r>
            <a:endParaRPr dirty="0">
              <a:latin typeface="Aptos" panose="020B0004020202020204" pitchFamily="34" charset="0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Software Used: </a:t>
            </a:r>
            <a:endParaRPr lang="en-US" b="1" i="0" u="none" strike="noStrike" cap="none" dirty="0"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139700" lvl="1">
              <a:spcBef>
                <a:spcPts val="1000"/>
              </a:spcBef>
              <a:buClr>
                <a:srgbClr val="333333"/>
              </a:buClr>
              <a:buSzPts val="1400"/>
            </a:pPr>
            <a:r>
              <a:rPr lang="en-US" sz="1200" b="1" dirty="0">
                <a:solidFill>
                  <a:schemeClr val="dk1"/>
                </a:solidFill>
                <a:latin typeface="Aptos" panose="020B0004020202020204" pitchFamily="34" charset="0"/>
                <a:sym typeface="Lekton"/>
              </a:rPr>
              <a:t>	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</a:rPr>
              <a:t>Python (Pandas for manipulation, Matplotlib/Seaborn for static charts) and OpenStreetMap 	API (for geospatial enrichment). Code available at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hlinkClick r:id="rId3"/>
              </a:rPr>
              <a:t>GitHub</a:t>
            </a:r>
            <a:endParaRPr lang="en-US" dirty="0">
              <a:solidFill>
                <a:schemeClr val="dk1"/>
              </a:solidFill>
              <a:latin typeface="Aptos" panose="020B0004020202020204" pitchFamily="34" charset="0"/>
            </a:endParaRPr>
          </a:p>
          <a:p>
            <a:pPr marL="91440" lvl="1">
              <a:spcBef>
                <a:spcPts val="600"/>
              </a:spcBef>
              <a:buClr>
                <a:srgbClr val="333333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</a:rPr>
              <a:t>	PowerPoint/Canva for final narrative layout and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/>
          <p:nvPr/>
        </p:nvSpPr>
        <p:spPr>
          <a:xfrm>
            <a:off x="540000" y="384725"/>
            <a:ext cx="8010000" cy="4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sym typeface="Arial"/>
              </a:rPr>
              <a:t>Insights from the Data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"Luxury Enclave" Phenomenon: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Wealth is not evenly distributed. It is highly concentrated in specific historic districts (e.g., </a:t>
            </a:r>
            <a:r>
              <a:rPr lang="en-US" sz="1400" b="0" i="1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San Marco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in Venice, </a:t>
            </a:r>
            <a:r>
              <a:rPr lang="en-US" sz="1400" b="0" i="1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Brera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in Milan). These "Micro-Climates" command prices </a:t>
            </a: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2x higher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than the national average.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Volatility of Venice: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Venice exhibits extreme price elasticity. It is the most expensive city in "Early Summer" but crashes to become affordable in "Early Winter.“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Stability of Milan: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Unlike leisure destinations, Milan shows remarkably stable pricing year-round, reflecting its nature as a business/industrial hub less reliant on seasonal tourism.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Strategic Implication: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Smart travelers can "beat the market" by shifting travel dates (Time Arbitrage) or moving just outside top-tier neighborhoods (Location Arbitrage).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body" idx="1"/>
          </p:nvPr>
        </p:nvSpPr>
        <p:spPr>
          <a:xfrm>
            <a:off x="242950" y="3819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Timing the Market: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The Seasonal Price Matrix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chemeClr val="dk1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.</a:t>
            </a:r>
            <a:endParaRPr sz="16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6"/>
          <p:cNvSpPr txBox="1"/>
          <p:nvPr/>
        </p:nvSpPr>
        <p:spPr>
          <a:xfrm>
            <a:off x="4769999" y="860725"/>
            <a:ext cx="3998615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'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3">
            <a:alphaModFix/>
          </a:blip>
          <a:srcRect l="41745"/>
          <a:stretch/>
        </p:blipFill>
        <p:spPr>
          <a:xfrm>
            <a:off x="3900354" y="0"/>
            <a:ext cx="5243648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6"/>
          <p:cNvSpPr txBox="1"/>
          <p:nvPr/>
        </p:nvSpPr>
        <p:spPr>
          <a:xfrm>
            <a:off x="151265" y="2046275"/>
            <a:ext cx="3501600" cy="1246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dk1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Venice vs. Milan: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Venice (Venezia) is highly volatile. It is extremely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pricey in Summer but crashes in Winter. In contrast, Milan (Milano) remains relatively stable (Yellow/Light Green) year-round, reflecting its status as a consistent business hub.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171977" y="968975"/>
            <a:ext cx="37284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E69138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The 'Green Pocket' Strategy: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This heatmap acts as a calendar for value. Red cells indicate expensive 'High Seasons’, while Green cells reveal bargain opportunities. Strategic travelers can save up to 40% by shifting their trip dates by just one season.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149758" y="3293075"/>
            <a:ext cx="36165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Key Takeaway: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For maximum </a:t>
            </a:r>
            <a:r>
              <a:rPr lang="en-US" sz="1100" dirty="0" err="1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ROl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, avoid the 'Red Zones'. The best value-for-money ratio is found in Early Winter for Venice and Early Autumn for Rome.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pic>
        <p:nvPicPr>
          <p:cNvPr id="141" name="Google Shape;141;p26"/>
          <p:cNvPicPr preferRelativeResize="0"/>
          <p:nvPr/>
        </p:nvPicPr>
        <p:blipFill rotWithShape="1">
          <a:blip r:embed="rId4">
            <a:alphaModFix/>
          </a:blip>
          <a:srcRect l="41745"/>
          <a:stretch/>
        </p:blipFill>
        <p:spPr>
          <a:xfrm>
            <a:off x="3828904" y="0"/>
            <a:ext cx="524364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>
            <a:spLocks noGrp="1"/>
          </p:cNvSpPr>
          <p:nvPr>
            <p:ph type="body" idx="1"/>
          </p:nvPr>
        </p:nvSpPr>
        <p:spPr>
          <a:xfrm>
            <a:off x="242950" y="3819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The Luxury Enclaves: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Wealth Is Concentrated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chemeClr val="dk1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.</a:t>
            </a:r>
            <a:endParaRPr sz="16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7"/>
          <p:cNvSpPr txBox="1"/>
          <p:nvPr/>
        </p:nvSpPr>
        <p:spPr>
          <a:xfrm>
            <a:off x="4769999" y="860725"/>
            <a:ext cx="39987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'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7"/>
          <p:cNvPicPr preferRelativeResize="0"/>
          <p:nvPr/>
        </p:nvPicPr>
        <p:blipFill rotWithShape="1">
          <a:blip r:embed="rId3">
            <a:alphaModFix/>
          </a:blip>
          <a:srcRect l="43818"/>
          <a:stretch>
            <a:fillRect/>
          </a:stretch>
        </p:blipFill>
        <p:spPr>
          <a:xfrm>
            <a:off x="4086970" y="0"/>
            <a:ext cx="505703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7"/>
          <p:cNvSpPr txBox="1"/>
          <p:nvPr/>
        </p:nvSpPr>
        <p:spPr>
          <a:xfrm>
            <a:off x="156335" y="1873012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The ‘Brand’ </a:t>
            </a: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Premium:</a:t>
            </a:r>
            <a:endParaRPr b="1" dirty="0">
              <a:latin typeface="Aptos" panose="020B0004020202020204" pitchFamily="34" charset="0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213802" y="2315384"/>
            <a:ext cx="3501600" cy="103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While these areas are populous, their price premium outpaces their size This suggests that ‘Neighborhood Brand’ (e.g., being near the Duomo or St Mark's Square) is a stronger driver of revenue than the property quality itself.</a:t>
            </a:r>
            <a:endParaRPr sz="1100" dirty="0">
              <a:latin typeface="Aptos" panose="020B0004020202020204" pitchFamily="34" charset="0"/>
            </a:endParaRPr>
          </a:p>
        </p:txBody>
      </p:sp>
      <p:sp>
        <p:nvSpPr>
          <p:cNvPr id="151" name="Google Shape;151;p27"/>
          <p:cNvSpPr txBox="1"/>
          <p:nvPr/>
        </p:nvSpPr>
        <p:spPr>
          <a:xfrm>
            <a:off x="171977" y="968975"/>
            <a:ext cx="3728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Uneven Distribution: </a:t>
            </a:r>
            <a:r>
              <a:rPr lang="en-US" sz="1100" dirty="0">
                <a:highlight>
                  <a:srgbClr val="FFFFFF"/>
                </a:highlight>
              </a:rPr>
              <a:t>Airbnb wealth in Italy is highly concentrated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. A handful of elite neighborhoods in Venice (San Marco) and Milan Centro, command prices double the national average</a:t>
            </a:r>
            <a:endParaRPr sz="1100" dirty="0">
              <a:latin typeface="Aptos" panose="020B0004020202020204" pitchFamily="34" charset="0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156335" y="3388698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Strategic Implication:</a:t>
            </a:r>
            <a:endParaRPr b="1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53" name="Google Shape;153;p27"/>
          <p:cNvSpPr txBox="1"/>
          <p:nvPr/>
        </p:nvSpPr>
        <p:spPr>
          <a:xfrm>
            <a:off x="156352" y="3831070"/>
            <a:ext cx="3616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1100" dirty="0">
                <a:highlight>
                  <a:srgbClr val="FFFFFF"/>
                </a:highlight>
              </a:rPr>
              <a:t>A one-size-fits-all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 pricing strategy is inefficient.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Hosts in those specific Hotspots" should aggressively target premium travelers, while those just outside must compete on value and amenities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>
            <a:spLocks noGrp="1"/>
          </p:cNvSpPr>
          <p:nvPr>
            <p:ph type="body" idx="1"/>
          </p:nvPr>
        </p:nvSpPr>
        <p:spPr>
          <a:xfrm>
            <a:off x="540000" y="8607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US" b="1" dirty="0">
                <a:ea typeface="Titillium Web"/>
                <a:cs typeface="Titillium Web"/>
                <a:sym typeface="Titillium Web"/>
              </a:rPr>
              <a:t>LICENCE</a:t>
            </a:r>
            <a:endParaRPr b="1" dirty="0">
              <a:ea typeface="Titillium Web"/>
              <a:cs typeface="Titillium Web"/>
              <a:sym typeface="Titillium Web"/>
            </a:endParaRPr>
          </a:p>
        </p:txBody>
      </p:sp>
      <p:sp>
        <p:nvSpPr>
          <p:cNvPr id="159" name="Google Shape;159;p28"/>
          <p:cNvSpPr txBox="1"/>
          <p:nvPr/>
        </p:nvSpPr>
        <p:spPr>
          <a:xfrm>
            <a:off x="4769999" y="860725"/>
            <a:ext cx="39987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983</Words>
  <Application>Microsoft Office PowerPoint</Application>
  <PresentationFormat>On-screen Show (16:9)</PresentationFormat>
  <Paragraphs>61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Noto Sans Symbols</vt:lpstr>
      <vt:lpstr>Aptos</vt:lpstr>
      <vt:lpstr>Titillium Web</vt:lpstr>
      <vt:lpstr>Lekton</vt:lpstr>
      <vt:lpstr>Arial</vt:lpstr>
      <vt:lpstr>Garamond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m.fahad5@campus.unimib.it</cp:lastModifiedBy>
  <cp:revision>9</cp:revision>
  <dcterms:modified xsi:type="dcterms:W3CDTF">2026-01-19T02:20:26Z</dcterms:modified>
</cp:coreProperties>
</file>